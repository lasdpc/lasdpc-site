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413346dcec4795" /><Relationship Type="http://schemas.openxmlformats.org/officeDocument/2006/relationships/extended-properties" Target="/docProps/app.xml" Id="Re19fc5be68bf41bb" /><Relationship Type="http://schemas.openxmlformats.org/officeDocument/2006/relationships/officeDocument" Target="/ppt/presentation.xml" Id="R33b116ed93a640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e944e3cf544c2c"/>
  </p:sldMasterIdLst>
  <p:notesMasterIdLst>
    <p:notesMasterId xmlns:r="http://schemas.openxmlformats.org/officeDocument/2006/relationships" r:id="R27c055ba61bb44f5"/>
  </p:notesMasterIdLst>
  <p:sldIdLst>
    <p:sldId xmlns:r="http://schemas.openxmlformats.org/officeDocument/2006/relationships" id="256" r:id="Rd59742b4efee4415"/>
    <p:sldId xmlns:r="http://schemas.openxmlformats.org/officeDocument/2006/relationships" id="257" r:id="R42d241b6caa54328"/>
    <p:sldId xmlns:r="http://schemas.openxmlformats.org/officeDocument/2006/relationships" id="258" r:id="R2ce01a088c984349"/>
    <p:sldId xmlns:r="http://schemas.openxmlformats.org/officeDocument/2006/relationships" id="259" r:id="R6aeff22ddccb4068"/>
    <p:sldId xmlns:r="http://schemas.openxmlformats.org/officeDocument/2006/relationships" id="260" r:id="Rd60e6164a1454833"/>
    <p:sldId xmlns:r="http://schemas.openxmlformats.org/officeDocument/2006/relationships" id="261" r:id="R6efceadaddf74a92"/>
    <p:sldId xmlns:r="http://schemas.openxmlformats.org/officeDocument/2006/relationships" id="262" r:id="R3fb6f1a2d9f54d70"/>
    <p:sldId xmlns:r="http://schemas.openxmlformats.org/officeDocument/2006/relationships" id="263" r:id="R7c866f2126234bf6"/>
    <p:sldId xmlns:r="http://schemas.openxmlformats.org/officeDocument/2006/relationships" id="264" r:id="Red6e2535773246b4"/>
    <p:sldId xmlns:r="http://schemas.openxmlformats.org/officeDocument/2006/relationships" id="265" r:id="R146d0cc571d74aca"/>
    <p:sldId xmlns:r="http://schemas.openxmlformats.org/officeDocument/2006/relationships" id="266" r:id="R14f2ce87e8b245f7"/>
    <p:sldId xmlns:r="http://schemas.openxmlformats.org/officeDocument/2006/relationships" id="267" r:id="Rd82d8ae4fb314636"/>
    <p:sldId xmlns:r="http://schemas.openxmlformats.org/officeDocument/2006/relationships" id="268" r:id="R6e5ed70026a44554"/>
    <p:sldId xmlns:r="http://schemas.openxmlformats.org/officeDocument/2006/relationships" id="269" r:id="R02577abd0ae74986"/>
    <p:sldId xmlns:r="http://schemas.openxmlformats.org/officeDocument/2006/relationships" id="270" r:id="R91ffdda9624d495c"/>
    <p:sldId xmlns:r="http://schemas.openxmlformats.org/officeDocument/2006/relationships" id="271" r:id="R2f952f4b182f411d"/>
    <p:sldId xmlns:r="http://schemas.openxmlformats.org/officeDocument/2006/relationships" id="272" r:id="R768d13e2c710483c"/>
    <p:sldId xmlns:r="http://schemas.openxmlformats.org/officeDocument/2006/relationships" id="273" r:id="R7419ddd313784d31"/>
    <p:sldId xmlns:r="http://schemas.openxmlformats.org/officeDocument/2006/relationships" id="274" r:id="R9d3938597f5048e6"/>
    <p:sldId xmlns:r="http://schemas.openxmlformats.org/officeDocument/2006/relationships" id="275" r:id="R2c21e5c4053c4ee9"/>
    <p:sldId xmlns:r="http://schemas.openxmlformats.org/officeDocument/2006/relationships" id="276" r:id="Rf4612d308f034bf8"/>
    <p:sldId xmlns:r="http://schemas.openxmlformats.org/officeDocument/2006/relationships" id="277" r:id="Rbeeec1340cb446e7"/>
    <p:sldId xmlns:r="http://schemas.openxmlformats.org/officeDocument/2006/relationships" id="278" r:id="R40d779f3b57a425a"/>
    <p:sldId xmlns:r="http://schemas.openxmlformats.org/officeDocument/2006/relationships" id="279" r:id="Rcd09fdd97f494a3e"/>
    <p:sldId xmlns:r="http://schemas.openxmlformats.org/officeDocument/2006/relationships" id="280" r:id="R36725508b5fb4052"/>
    <p:sldId xmlns:r="http://schemas.openxmlformats.org/officeDocument/2006/relationships" id="281" r:id="R8bc8000aba314a94"/>
    <p:sldId xmlns:r="http://schemas.openxmlformats.org/officeDocument/2006/relationships" id="282" r:id="R7dcc9f8f5db642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ee002d14564e3e" /><Relationship Type="http://schemas.openxmlformats.org/officeDocument/2006/relationships/slideMaster" Target="/ppt/slideMasters/slideMaster1.xml" Id="Re7e944e3cf544c2c" /><Relationship Type="http://schemas.openxmlformats.org/officeDocument/2006/relationships/notesMaster" Target="/ppt/notesMasters/notesMaster1.xml" Id="R27c055ba61bb44f5" /><Relationship Type="http://schemas.openxmlformats.org/officeDocument/2006/relationships/presProps" Target="/ppt/presProps.xml" Id="Raa8443a3a6c34c04" /><Relationship Type="http://schemas.openxmlformats.org/officeDocument/2006/relationships/tableStyles" Target="/ppt/tableStyles.xml" Id="R50f37fc77526405c" /><Relationship Type="http://schemas.openxmlformats.org/officeDocument/2006/relationships/slide" Target="/ppt/slides/slide1.xml" Id="Rd59742b4efee4415" /><Relationship Type="http://schemas.openxmlformats.org/officeDocument/2006/relationships/slide" Target="/ppt/slides/slide2.xml" Id="R42d241b6caa54328" /><Relationship Type="http://schemas.openxmlformats.org/officeDocument/2006/relationships/slide" Target="/ppt/slides/slide3.xml" Id="R2ce01a088c984349" /><Relationship Type="http://schemas.openxmlformats.org/officeDocument/2006/relationships/slide" Target="/ppt/slides/slide4.xml" Id="R6aeff22ddccb4068" /><Relationship Type="http://schemas.openxmlformats.org/officeDocument/2006/relationships/slide" Target="/ppt/slides/slide5.xml" Id="Rd60e6164a1454833" /><Relationship Type="http://schemas.openxmlformats.org/officeDocument/2006/relationships/slide" Target="/ppt/slides/slide6.xml" Id="R6efceadaddf74a92" /><Relationship Type="http://schemas.openxmlformats.org/officeDocument/2006/relationships/slide" Target="/ppt/slides/slide7.xml" Id="R3fb6f1a2d9f54d70" /><Relationship Type="http://schemas.openxmlformats.org/officeDocument/2006/relationships/slide" Target="/ppt/slides/slide8.xml" Id="R7c866f2126234bf6" /><Relationship Type="http://schemas.openxmlformats.org/officeDocument/2006/relationships/slide" Target="/ppt/slides/slide9.xml" Id="Red6e2535773246b4" /><Relationship Type="http://schemas.openxmlformats.org/officeDocument/2006/relationships/slide" Target="/ppt/slides/slide10.xml" Id="R146d0cc571d74aca" /><Relationship Type="http://schemas.openxmlformats.org/officeDocument/2006/relationships/slide" Target="/ppt/slides/slide11.xml" Id="R14f2ce87e8b245f7" /><Relationship Type="http://schemas.openxmlformats.org/officeDocument/2006/relationships/slide" Target="/ppt/slides/slide12.xml" Id="Rd82d8ae4fb314636" /><Relationship Type="http://schemas.openxmlformats.org/officeDocument/2006/relationships/slide" Target="/ppt/slides/slide13.xml" Id="R6e5ed70026a44554" /><Relationship Type="http://schemas.openxmlformats.org/officeDocument/2006/relationships/slide" Target="/ppt/slides/slide14.xml" Id="R02577abd0ae74986" /><Relationship Type="http://schemas.openxmlformats.org/officeDocument/2006/relationships/slide" Target="/ppt/slides/slide15.xml" Id="R91ffdda9624d495c" /><Relationship Type="http://schemas.openxmlformats.org/officeDocument/2006/relationships/slide" Target="/ppt/slides/slide16.xml" Id="R2f952f4b182f411d" /><Relationship Type="http://schemas.openxmlformats.org/officeDocument/2006/relationships/slide" Target="/ppt/slides/slide17.xml" Id="R768d13e2c710483c" /><Relationship Type="http://schemas.openxmlformats.org/officeDocument/2006/relationships/slide" Target="/ppt/slides/slide18.xml" Id="R7419ddd313784d31" /><Relationship Type="http://schemas.openxmlformats.org/officeDocument/2006/relationships/slide" Target="/ppt/slides/slide19.xml" Id="R9d3938597f5048e6" /><Relationship Type="http://schemas.openxmlformats.org/officeDocument/2006/relationships/slide" Target="/ppt/slides/slide20.xml" Id="R2c21e5c4053c4ee9" /><Relationship Type="http://schemas.openxmlformats.org/officeDocument/2006/relationships/slide" Target="/ppt/slides/slide21.xml" Id="Rf4612d308f034bf8" /><Relationship Type="http://schemas.openxmlformats.org/officeDocument/2006/relationships/slide" Target="/ppt/slides/slide22.xml" Id="Rbeeec1340cb446e7" /><Relationship Type="http://schemas.openxmlformats.org/officeDocument/2006/relationships/slide" Target="/ppt/slides/slide23.xml" Id="R40d779f3b57a425a" /><Relationship Type="http://schemas.openxmlformats.org/officeDocument/2006/relationships/slide" Target="/ppt/slides/slide24.xml" Id="Rcd09fdd97f494a3e" /><Relationship Type="http://schemas.openxmlformats.org/officeDocument/2006/relationships/slide" Target="/ppt/slides/slide25.xml" Id="R36725508b5fb4052" /><Relationship Type="http://schemas.openxmlformats.org/officeDocument/2006/relationships/slide" Target="/ppt/slides/slide26.xml" Id="R8bc8000aba314a94" /><Relationship Type="http://schemas.openxmlformats.org/officeDocument/2006/relationships/slide" Target="/ppt/slides/slide27.xml" Id="R7dcc9f8f5db642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3338bed46e40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768e610eca47a2" /><Relationship Type="http://schemas.openxmlformats.org/officeDocument/2006/relationships/notesMaster" Target="/ppt/notesMasters/notesMaster1.xml" Id="Rea47f459dffd4c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4666f86ef94430" /><Relationship Type="http://schemas.openxmlformats.org/officeDocument/2006/relationships/notesMaster" Target="/ppt/notesMasters/notesMaster1.xml" Id="Rd0d87345d2bc4a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d79a3cb34943d1" /><Relationship Type="http://schemas.openxmlformats.org/officeDocument/2006/relationships/notesMaster" Target="/ppt/notesMasters/notesMaster1.xml" Id="Re9fc500235474c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fcc97254ee45fc" /><Relationship Type="http://schemas.openxmlformats.org/officeDocument/2006/relationships/notesMaster" Target="/ppt/notesMasters/notesMaster1.xml" Id="R115d0840977444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02111f81374c10" /><Relationship Type="http://schemas.openxmlformats.org/officeDocument/2006/relationships/notesMaster" Target="/ppt/notesMasters/notesMaster1.xml" Id="Re50b91f86c5445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1acd4dace54fa0" /><Relationship Type="http://schemas.openxmlformats.org/officeDocument/2006/relationships/notesMaster" Target="/ppt/notesMasters/notesMaster1.xml" Id="Rb86d5940faef44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7e607a1a64486e" /><Relationship Type="http://schemas.openxmlformats.org/officeDocument/2006/relationships/notesMaster" Target="/ppt/notesMasters/notesMaster1.xml" Id="R31d0299a893341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ba84ef700f476b" /><Relationship Type="http://schemas.openxmlformats.org/officeDocument/2006/relationships/notesMaster" Target="/ppt/notesMasters/notesMaster1.xml" Id="R47c0699f7cf148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26ce50b3f04a5a" /><Relationship Type="http://schemas.openxmlformats.org/officeDocument/2006/relationships/notesMaster" Target="/ppt/notesMasters/notesMaster1.xml" Id="R086d720ee51049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d22fd0997a418d" /><Relationship Type="http://schemas.openxmlformats.org/officeDocument/2006/relationships/notesMaster" Target="/ppt/notesMasters/notesMaster1.xml" Id="Rdc164bef90bb44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3be01de2974a98" /><Relationship Type="http://schemas.openxmlformats.org/officeDocument/2006/relationships/notesMaster" Target="/ppt/notesMasters/notesMaster1.xml" Id="Re4bb555b8b4d43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794e60969c4539" /><Relationship Type="http://schemas.openxmlformats.org/officeDocument/2006/relationships/notesMaster" Target="/ppt/notesMasters/notesMaster1.xml" Id="R09645b5b369642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95f5cf2d9c4604" /><Relationship Type="http://schemas.openxmlformats.org/officeDocument/2006/relationships/notesMaster" Target="/ppt/notesMasters/notesMaster1.xml" Id="R70e07890e9934f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db34729aea43cc" /><Relationship Type="http://schemas.openxmlformats.org/officeDocument/2006/relationships/notesMaster" Target="/ppt/notesMasters/notesMaster1.xml" Id="R2ef8f4768c4c43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fa88180c2f4531" /><Relationship Type="http://schemas.openxmlformats.org/officeDocument/2006/relationships/notesMaster" Target="/ppt/notesMasters/notesMaster1.xml" Id="R19374365b1f547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85a9e326fd4781" /><Relationship Type="http://schemas.openxmlformats.org/officeDocument/2006/relationships/notesMaster" Target="/ppt/notesMasters/notesMaster1.xml" Id="Rb1df49cff3cb46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036690cceef42a1" /><Relationship Type="http://schemas.openxmlformats.org/officeDocument/2006/relationships/notesMaster" Target="/ppt/notesMasters/notesMaster1.xml" Id="R392f7e29d44247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f1ddd4cf0bf4e59" /><Relationship Type="http://schemas.openxmlformats.org/officeDocument/2006/relationships/notesMaster" Target="/ppt/notesMasters/notesMaster1.xml" Id="Rd87e659a5f5341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23b7f65b6a4e9e" /><Relationship Type="http://schemas.openxmlformats.org/officeDocument/2006/relationships/notesMaster" Target="/ppt/notesMasters/notesMaster1.xml" Id="Rd3797bd759e6432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9e7af5ea0e24a19" /><Relationship Type="http://schemas.openxmlformats.org/officeDocument/2006/relationships/notesMaster" Target="/ppt/notesMasters/notesMaster1.xml" Id="R2b9985d34e3e4f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bc431dbf8fa4f4b" /><Relationship Type="http://schemas.openxmlformats.org/officeDocument/2006/relationships/notesMaster" Target="/ppt/notesMasters/notesMaster1.xml" Id="R09c42d3d8e44432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d8d71ec90b41e1" /><Relationship Type="http://schemas.openxmlformats.org/officeDocument/2006/relationships/notesMaster" Target="/ppt/notesMasters/notesMaster1.xml" Id="Re2a8b9bda5b346d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59a2234703d41f7" /><Relationship Type="http://schemas.openxmlformats.org/officeDocument/2006/relationships/notesMaster" Target="/ppt/notesMasters/notesMaster1.xml" Id="R6e5182775d1c44a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6f646c66dca425c" /><Relationship Type="http://schemas.openxmlformats.org/officeDocument/2006/relationships/notesMaster" Target="/ppt/notesMasters/notesMaster1.xml" Id="Ra1f1816a07c64f8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30a91bce1874410" /><Relationship Type="http://schemas.openxmlformats.org/officeDocument/2006/relationships/notesMaster" Target="/ppt/notesMasters/notesMaster1.xml" Id="R5399fe92ff264cf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963da7b455743b8" /><Relationship Type="http://schemas.openxmlformats.org/officeDocument/2006/relationships/notesMaster" Target="/ppt/notesMasters/notesMaster1.xml" Id="R5016331f40d2423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4180ab40a534a2a" /><Relationship Type="http://schemas.openxmlformats.org/officeDocument/2006/relationships/notesMaster" Target="/ppt/notesMasters/notesMaster1.xml" Id="Rbd059a14b2e14e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de reconstrução. Os comandos para uma VM nova são instruções, não registro histórico da instalação. O estado observado da VM vem do inventário e precisa ser reconfirmado antes de qualquer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/Users/luiz.costa/Documents/GitHub/lasdpc-site/.github/workflows/main.yml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sequência assume uma VM Ubuntu nova para as etapas de instalação. Em uma VM já em produção, começar pelo inventário, comparar configurações e aplicar apenas o que estiver faltando. O capítulo Certbot descreve o processo completo de emissão e manutenção.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Arquitetura observada: Nginx no host, frontend React/Vite estático, FastAPI em loopback, MongoDB e MinIO em Docker. Certbot emite e renova o certificado; Nginx apresenta o HTTPS. O runner self-hosted executa o workflow de deploy.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/Users/luiz.costa/Documents/GitHub/lasdpc-site/docker-compose.yml | /Users/luiz.costa/Documents/GitHub/lasdpc-site/.github/workflows/main.yml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Diretórios confirmados ou reconstruídos a partir do inventário. O link sites-available -&gt; sites-enabled não foi auditado após a correção. Os volumes de MongoDB e MinIO pertencem ao Docker, não ao frontend/dist. Nunca sincronizar .env ou chaves privadas para o GitHub.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/Users/luiz.costa/Documents/GitHub/lasdpc-site/.github/workflows/main.yml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Portas observadas no inventário em 21/10/2026. A porta 27018 do MongoDB estava publicada no host em todas as interfaces no Compose; a exposição externa depende de firewall e deve ser revista. A rota /media/profile/ foi relatada como funcional após a correção, mas a configuração final exata do Nginx não foi coletada.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SSH na porta 2291 foi fornecido pelo usuário. O hostname e a conta foram observados no inventário. O acesso sudo é necessário para Nginx, systemd e Certbot; não inferir política atual de sudo ou firewall.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versão exata do Ubuntu e a instalação original de Node/Docker não foram verificadas. Para Docker, seguir as instruções oficiais adequadas ao Ubuntu da VM: https://docs.docker.com/engine/install/ubuntu/ . DNS e firewall são pré-requisitos para HTTP-01, mas não foram administrados neste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https://letsencrypt.org/docs/challenge-types/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repositório é organizacional e o caminho de produção consta do workflow. Na VM existente, executar git status e inspecionar alterações locais antes de qualquer atualização manual. Um clone de repositório privado exigirá autorização e credenciais de leitura adequadas.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/Users/luiz.costa/Documents/GitHub/lasdpc-site/.github/workflows/main.yml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exemplo versionado backend/.env.example documenta as variáveis. O Compose usa backend/.env para MinIO e minio-init. Pydantic Settings também lê .env no diretório de trabalho do backend. Não usar valores de exemplo ou compartilhar conteúdo de .env. O domínio público pode ser usado em MINIO_PUBLIC_URL em vez de /media, se mantido sem nome de bucket.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/Users/luiz.costa/Documents/GitHub/lasdpc-site/backend/.env.example | /Users/luiz.costa/Documents/GitHub/lasdpc-site/backend/core/config.py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arquivo docker-compose.yml atual declara mongo, minio e minio-init. O init configura download anônimo no bucket inteiro; antes de incluir objetos privados, rever essa política. docker compose config sem --services pode imprimir segredos interpolados. O MongoDB é publicado em 27018 em todas as interfaces, portanto revisar firewall.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instalação de dependências e o comando Uvicorn derivam do backend e do processo observado na VM. O teste manual ocupa o terminal e deve ser encerrado antes de habilitar o serviço, para evitar conflito na porta 8000.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/Users/luiz.costa/Documents/GitHub/lasdpc-site/backend/requirements.txt | /Users/luiz.costa/Documents/GitHub/lasdpc-site/backend/main.py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para VM nova, não transcrição do arquivo atual. A unit real não foi coletada integralmente. O systemd aceita continuação de diretiva com barra invertida ao fim da linha; no slide ExecStart ocupa duas linhas e equivale ao comando observado: /home/lasdpc/lasdpc-site/backend/venv/bin/uvicorn main:app --host 127.0.0.1 --port 8000. Em VM existente: sudo systemctl cat lasdpc-backend.service.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/Users/luiz.costa/Documents/GitHub/lasdpc-site/backend/main.py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workflow atual instala dependências e executa npm run build na VM. O frontend/.env.example recomenda VITE_API_URL vazio para mesma origem e VITE_MINIO_PUBLIC_URL=/media. O workflow preserva frontend/.env ao fazer rsync. Em produção, conferir também .env.production se existir.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/Users/luiz.costa/Documents/GitHub/lasdpc-site/frontend/.env.example | /Users/luiz.costa/Documents/GitHub/lasdpc-site/.github/workflows/main.yml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mínimo para primeira emissão em VM nova. Não contém certificado, pois ele ainda não existe. A configuração final deve incluir proxy da API, /docs, /openapi.json e /media/profile. O Nginx precisa conseguir ler frontend/dist e atravessar os diretórios pais. Se a VM já tem Nginx configurado, não substitua o arquivo sem comparar.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https://certbot.eff.org/instructions?os=snap&amp;ws=nginx | https://letsencrypt.org/docs/challenge-types/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proxy_pass sem sufixo URI mantém /api/... ao encaminhar. O cabeçalho X-Forwarded-For pode ser adicionado na configuração final. O symlink deve ser criado apenas se ainda não existir; na VM atual o site já está habilitado. Antes do Certbot, Nginx precisa passar em nginx -t e servir HTTP em 80 para o domínio.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https://certbot.eff.org/instructions?os=snap&amp;ws=nginx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Certbot --nginx exige um site HTTP existente e acessível na porta 80. O desafio HTTP-01 da Let’s Encrypt usa exclusivamente a porta 80. O curl feito dentro da VM não substitui um teste externo quando há NAT/firewall. A porta SSH 2291 não interfere na validação.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https://certbot.eff.org/instructions?os=snap&amp;ws=nginx | https://letsencrypt.org/docs/challenge-types/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uma VM nova sem Certbot, usar as instruções oficiais para Linux/Nginx via snap. O site oficial recomenda evitar instalações concorrentes apt/snap. O comando ln -s pressupõe que o destino ainda não exista. Na VM existente, o inventário registrou /usr/bin/certbot e certbot.timer; não executar esta migração como parte de manutenção rotineira.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https://certbot.eff.org/instructions?os=snap&amp;ws=nginx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comando de emissão é recomendado e compatível com a configuração atual, mas o comando histórico original não foi recuperado. O plugin nginx autentica e instala o certificado. Após a emissão, verificar o arquivo Nginx e redirecionamento. Não usar --force-renewal como rotina e não emitir repetidas vezes só para testar.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https://certbot.eff.org/instructions?os=snap&amp;ws=nginx | https://eff-certbot.readthedocs.io/en/stable/using.html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inventário mostrou certificado ECDSA da Let’s Encrypt para lasdpc.icmc.usp.br, fullchain.pem e privkey.pem sob /etc/letsencrypt/live/lasdpc.icmc.usp.br. Em 21/10/2026, curl negociou TLS 1.3 e validou cadeia/hostname; isso precisa ser repetido em uma VM nova. O plugin adiciona diretrizes TLS e pode configurar redirecionamento, que deve ser verificado em vez de assumido.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https://certbot.eff.org/instructions?os=snap&amp;ws=nginx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instalações Certbot normalmente incluem renovação automática via timer ou cron. O agendamento exato depende do método de instalação. O dry-run usa staging e testa o fluxo sem salvar certificado de produção. Na VM existente, certbot.timer estava enabled e active (waiting) e o dry-run teve sucesso em 21/10/2026. Para snap, procurar o timer correspondente; journalctl -u certbot.service é específico da instalação apt observada.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https://certbot.eff.org/instructions?os=snap&amp;ws=nginx | https://eff-certbot.readthedocs.io/en/stable/using.html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Fluxo de diagnóstico derivado de requisitos HTTP-01 e documentação Certbot. Uma falha de DNS, firewall ou Nginx pode impedir tanto emissão inicial quanto renovação. O comando certbot renew --dry-run pode recarregar Nginx temporariamente. Evitar reemitir repetidamente por limites da CA; corrigir causa e testar.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https://letsencrypt.org/docs/challenge-types/ | https://eff-certbot.readthedocs.io/en/stable/using.html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bloco foi relatado como aplicado após a correção de imagens, mas a cópia final de nginx -T não foi coletada. Só expor /media/profile/; documentos e outros objetos podem exigir autenticação. Também inserir /docs e /openapi.json no servidor final se essas rotas forem necessárias: ambas apontam para http://127.0.0.1:8000. Não substituir o server HTTPS inteiro sem preservar as diretivas do Certbot.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/Users/luiz.costa/Documents/GitHub/lasdpc-site/docs/media-deployment.md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registro exato depende da interface do GitHub e usa token temporário, portanto não inserir token estático no deck. A VM atual já tinha serviço actions.runner.LASDPC-lasdpc-site.lasdpc-web.service ativo. Runner em nível de organização precisa dar acesso ao repositório, conforme política da organização. Verificar permissões Docker e sudo de forma restrita.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https://docs.github.com/en/actions/how-tos/manage-runners/self-hosted-runners/add-runners | https://docs.github.com/en/actions/how-tos/manage-runners/self-hosted-runners/configure-the-application?platform=linux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versionado no repositório organizacional. rsync --delete preserva backend/.env, frontend/.env, backend/venv e frontend/node_modules por exclusões; mesmo assim, pode excluir outros arquivos locais não cobertos. O build valida URLs públicas VITE_* e bloqueia HTTP interno. O job atual não mostra rollback ou smoke test automático. Confirmar o SHA e a execução na aba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/Users/luiz.costa/Documents/GitHub/lasdpc-site/.github/workflows/main.yml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testes de saúde não substituem verificação funcional do frontend e de upload/renderização de imagem. Substitua exemplo.png pelo nome de uma imagem que exista no bucket. Nenhuma ação ao vivo na VM foi feita para produzir este material.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/Users/luiz.costa/Documents/GitHub/lasdpc-site/.github/workflows/main.yml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inventário menciona scripts reset_and_populate que podem limpar banco e bucket; eles não são rotina de manutenção. Os volumes persistentes devem ter política de backup e restauração validada. Revisar exposição da porta MongoDB 27018 e política pública do bucket MinIO. O estado atual dessas salvaguardas não foi auditado.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/Users/luiz.costa/Documents/GitHub/lasdpc-site/docker-compose.yml | /Users/luiz.costa/Documents/GitHub/lasdpc-site/backend/scripts/reset_and_populate.py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completas: inventário fornecido em /Users/luiz.costa/Downloads/lasdpc_vm_configuracao_atual.md; arquivos locais do repositório; documentação oficial Certbot, Let’s Encrypt e GitHub. O conteúdo final exato do Nginx após a correção, o arquivo unit systemd e a versão exata do Ubuntu não foram coletados.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/Users/luiz.costa/Downloads/lasdpc_vm_configuracao_atual.md | https://certbot.eff.org/instructions?os=snap&amp;ws=nginx | https://letsencrypt.org/docs/challenge-types/ | https://docs.github.com/en/actions/how-tos/manage-runners/self-hosted-runners/add-runners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76dd9de4b40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654b20cd149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d900f7b65d41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211e01fab42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c90b9926645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cdbb227b340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0E1B83-7121-47A0-9D1D-6CBDFA0B20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E74331E-0C08-436A-8AD7-BD9E01CC5E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F068A3-D1D1-4C25-9006-C784AD5946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52CA6D-F67D-48B3-8C25-BBCE9563A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404D6A-B4FB-44BA-9EFF-2034BF00DD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18668A-9D76-44A3-9179-F634EB0EE0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AE5652-7FEF-4C22-8443-ECAC4C4298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62EA3F-72F8-4A60-8F9A-1512A2F5C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D90BD8-F001-4B1A-9D39-6FDA7EB77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0559A0-8162-414F-8792-FE30FC216C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51210ee3fa4cd0" /><Relationship Type="http://schemas.openxmlformats.org/officeDocument/2006/relationships/slideLayout" Target="/ppt/slideLayouts/slideLayout1.xml" Id="Rb6e440fb08014ebf" /><Relationship Type="http://schemas.openxmlformats.org/officeDocument/2006/relationships/slideLayout" Target="/ppt/slideLayouts/slideLayout2.xml" Id="R987d84563d4f4d93" /><Relationship Type="http://schemas.openxmlformats.org/officeDocument/2006/relationships/slideLayout" Target="/ppt/slideLayouts/slideLayout3.xml" Id="R0711bd43b706425b" /><Relationship Type="http://schemas.openxmlformats.org/officeDocument/2006/relationships/slideLayout" Target="/ppt/slideLayouts/slideLayout4.xml" Id="Ra746861f4a11408a" /><Relationship Type="http://schemas.openxmlformats.org/officeDocument/2006/relationships/slideLayout" Target="/ppt/slideLayouts/slideLayout5.xml" Id="R93e785a839b145a2" /><Relationship Type="http://schemas.openxmlformats.org/officeDocument/2006/relationships/slideLayout" Target="/ppt/slideLayouts/slideLayout6.xml" Id="R8ece307a70a84a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e440fb08014ebf"/>
    <p:sldLayoutId xmlns:r="http://schemas.openxmlformats.org/officeDocument/2006/relationships" id="2147483650" r:id="R987d84563d4f4d93"/>
    <p:sldLayoutId xmlns:r="http://schemas.openxmlformats.org/officeDocument/2006/relationships" id="2147483651" r:id="R0711bd43b706425b"/>
    <p:sldLayoutId xmlns:r="http://schemas.openxmlformats.org/officeDocument/2006/relationships" id="2147483652" r:id="Ra746861f4a11408a"/>
    <p:sldLayoutId xmlns:r="http://schemas.openxmlformats.org/officeDocument/2006/relationships" id="2147483653" r:id="R93e785a839b145a2"/>
    <p:sldLayoutId xmlns:r="http://schemas.openxmlformats.org/officeDocument/2006/relationships" id="2147483654" r:id="R8ece307a70a84a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81871dd81480c" /><Relationship Type="http://schemas.openxmlformats.org/officeDocument/2006/relationships/image" Target="/ppt/media/image.png" Id="Rcba8c893764b467c" /><Relationship Type="http://schemas.openxmlformats.org/officeDocument/2006/relationships/notesSlide" Target="/ppt/notesSlides/notesSlide1.xml" Id="R5f7b87d2133f43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85f68246b549b3" /><Relationship Type="http://schemas.openxmlformats.org/officeDocument/2006/relationships/notesSlide" Target="/ppt/notesSlides/notesSlide2.xml" Id="Rf4d3d7437dfd4c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548161f534a36" /><Relationship Type="http://schemas.openxmlformats.org/officeDocument/2006/relationships/notesSlide" Target="/ppt/notesSlides/notesSlide3.xml" Id="Rfd3185868b2344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8888fc4a2c4691" /><Relationship Type="http://schemas.openxmlformats.org/officeDocument/2006/relationships/notesSlide" Target="/ppt/notesSlides/notesSlide4.xml" Id="Re3f933a9b34944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383333c4245bf" /><Relationship Type="http://schemas.openxmlformats.org/officeDocument/2006/relationships/notesSlide" Target="/ppt/notesSlides/notesSlide5.xml" Id="R588582b7e38b4f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c38c270b5a47a6" /><Relationship Type="http://schemas.openxmlformats.org/officeDocument/2006/relationships/notesSlide" Target="/ppt/notesSlides/notesSlide6.xml" Id="Raf1472bed04445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54f754dd8843c6" /><Relationship Type="http://schemas.openxmlformats.org/officeDocument/2006/relationships/notesSlide" Target="/ppt/notesSlides/notesSlide7.xml" Id="R7c6a9c07f57946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1fb8b9e1944c69" /><Relationship Type="http://schemas.openxmlformats.org/officeDocument/2006/relationships/notesSlide" Target="/ppt/notesSlides/notesSlide8.xml" Id="Re35e380edaeb47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13fb2193f44c4" /><Relationship Type="http://schemas.openxmlformats.org/officeDocument/2006/relationships/notesSlide" Target="/ppt/notesSlides/notesSlide9.xml" Id="R1773c131a61948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f42a924ef4209" /><Relationship Type="http://schemas.openxmlformats.org/officeDocument/2006/relationships/notesSlide" Target="/ppt/notesSlides/notesSlide10.xml" Id="Rd70b6aa7d9624f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e217213a894d6d" /><Relationship Type="http://schemas.openxmlformats.org/officeDocument/2006/relationships/notesSlide" Target="/ppt/notesSlides/notesSlide11.xml" Id="Rec290dec3ac348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49941199f14a2e" /><Relationship Type="http://schemas.openxmlformats.org/officeDocument/2006/relationships/notesSlide" Target="/ppt/notesSlides/notesSlide12.xml" Id="Rc31d2c365c6740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71b6995424ed7" /><Relationship Type="http://schemas.openxmlformats.org/officeDocument/2006/relationships/notesSlide" Target="/ppt/notesSlides/notesSlide13.xml" Id="R8fc58123104b4b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a3bc4a8654c88" /><Relationship Type="http://schemas.openxmlformats.org/officeDocument/2006/relationships/notesSlide" Target="/ppt/notesSlides/notesSlide14.xml" Id="R55c9d23cf1744b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21d5379704b54" /><Relationship Type="http://schemas.openxmlformats.org/officeDocument/2006/relationships/notesSlide" Target="/ppt/notesSlides/notesSlide15.xml" Id="Rf12018ec69e543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6558e8c644416" /><Relationship Type="http://schemas.openxmlformats.org/officeDocument/2006/relationships/notesSlide" Target="/ppt/notesSlides/notesSlide16.xml" Id="R7ef27575f3b74d1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7403ad3e347bf" /><Relationship Type="http://schemas.openxmlformats.org/officeDocument/2006/relationships/notesSlide" Target="/ppt/notesSlides/notesSlide17.xml" Id="R87e88a8d115343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d5f9eadd84e94" /><Relationship Type="http://schemas.openxmlformats.org/officeDocument/2006/relationships/image" Target="/ppt/media/image2.png" Id="Rb7da2a1cc85e4f51" /><Relationship Type="http://schemas.openxmlformats.org/officeDocument/2006/relationships/notesSlide" Target="/ppt/notesSlides/notesSlide18.xml" Id="R4761e926d7a64c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58a6a076044cc5" /><Relationship Type="http://schemas.openxmlformats.org/officeDocument/2006/relationships/notesSlide" Target="/ppt/notesSlides/notesSlide19.xml" Id="R44dab13bbf2c41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6029fc6c344c22" /><Relationship Type="http://schemas.openxmlformats.org/officeDocument/2006/relationships/notesSlide" Target="/ppt/notesSlides/notesSlide20.xml" Id="R5a109fd8230648e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2834f136ed4bc0" /><Relationship Type="http://schemas.openxmlformats.org/officeDocument/2006/relationships/notesSlide" Target="/ppt/notesSlides/notesSlide21.xml" Id="R683207ee736b4fb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cb615ff5f402b" /><Relationship Type="http://schemas.openxmlformats.org/officeDocument/2006/relationships/notesSlide" Target="/ppt/notesSlides/notesSlide22.xml" Id="R0340903009c84a2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c6201c4df44dc7" /><Relationship Type="http://schemas.openxmlformats.org/officeDocument/2006/relationships/notesSlide" Target="/ppt/notesSlides/notesSlide23.xml" Id="Rc361ddeb8d61433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e5af6cf997487a" /><Relationship Type="http://schemas.openxmlformats.org/officeDocument/2006/relationships/image" Target="/ppt/media/image3.png" Id="R525acbffc6074844" /><Relationship Type="http://schemas.openxmlformats.org/officeDocument/2006/relationships/notesSlide" Target="/ppt/notesSlides/notesSlide24.xml" Id="R010f60f25d4e48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9c4e5724f41af" /><Relationship Type="http://schemas.openxmlformats.org/officeDocument/2006/relationships/notesSlide" Target="/ppt/notesSlides/notesSlide25.xml" Id="R054592ff91b143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d5115573c4bb1" /><Relationship Type="http://schemas.openxmlformats.org/officeDocument/2006/relationships/notesSlide" Target="/ppt/notesSlides/notesSlide26.xml" Id="Rf43e49438644411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861cf6af8422b" /><Relationship Type="http://schemas.openxmlformats.org/officeDocument/2006/relationships/notesSlide" Target="/ppt/notesSlides/notesSlide27.xml" Id="R8f01e573ef7143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2905E-FA4B-44B7-BB1D-D3E5153BB0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8c893764b467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1BA99-3BA6-4E48-B9E5-1AED63C0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LASDPC  •  OPERAÇÃO DA 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6FBFF-4361-4CB4-A2B9-EC765257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647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Configuração do site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passo a passo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4054E-CD52-41BE-9608-D6DCB4D4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5857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Da arquitetura ao HTTPS com Certbot,</a:t>
            </a:r>
          </a:p>
          <a:p xmlns:a="http://schemas.openxmlformats.org/drawingml/2006/main">
            <a:pPr>
              <a:defRPr sz="18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comandos e testes em cada etapa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E4268-55ED-4F61-B2E5-398DB12B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Tutorial de reconstrução  • 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13259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6834D-08AB-4AD5-810F-D433B529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MAPA DA APRESENTAÇÃO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EA051-7740-4028-B875-2ABABA0E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Índice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98DC8-5CB1-46F4-98DA-94BDD24F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63F82-1363-4514-ABF9-1B34F99F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56263-E706-460D-AE10-3270469C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5B0EF-EF4D-49D5-A95D-57DBCD3A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defPPr>
            <a:lvl1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1pPr>
            <a:lvl2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2pPr>
            <a:lvl3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3pPr>
            <a:lvl4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4pPr>
            <a:lvl5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5pPr>
            <a:lvl6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6pPr>
            <a:lvl7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7pPr>
            <a:lvl8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8pPr>
            <a:lvl9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05B7B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E8772-636C-4EB4-A861-EA7549EB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52625"/>
            <a:ext cx="814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Arquitetura e arquivos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8C79E-3692-4B27-8B02-1E0D8D51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526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03–05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E2615-FCF9-4CDB-BDBB-4ED5AB94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F91D3-CC03-427B-96CE-D2D34D95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defPPr>
            <a:lvl1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1pPr>
            <a:lvl2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2pPr>
            <a:lvl3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3pPr>
            <a:lvl4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4pPr>
            <a:lvl5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5pPr>
            <a:lvl6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6pPr>
            <a:lvl7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7pPr>
            <a:lvl8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8pPr>
            <a:lvl9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05B7B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F5977-621E-491F-9E35-E5CEFA76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814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Preparação, dados e aplicação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8556A-FB2F-4320-A6E1-7F0E8398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6225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06–13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9826C-4D2B-4AC0-9B70-A13D9794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A9B9E-7841-40B8-B75E-264D90F7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defPPr>
            <a:lvl1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1pPr>
            <a:lvl2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2pPr>
            <a:lvl3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3pPr>
            <a:lvl4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4pPr>
            <a:lvl5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5pPr>
            <a:lvl6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6pPr>
            <a:lvl7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7pPr>
            <a:lvl8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8pPr>
            <a:lvl9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05B7B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427CF-6940-428D-8B6B-61326A1B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71875"/>
            <a:ext cx="814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Nginx e Certbot do zero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72DB5-C8D8-480B-AB08-7AC5C309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7187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14–22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AE654-04AF-4FD3-8A31-104B3A03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38909-3766-4DD9-8FEE-B172853C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defPPr>
            <a:lvl1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1pPr>
            <a:lvl2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2pPr>
            <a:lvl3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3pPr>
            <a:lvl4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4pPr>
            <a:lvl5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5pPr>
            <a:lvl6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6pPr>
            <a:lvl7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7pPr>
            <a:lvl8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8pPr>
            <a:lvl9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05B7B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25DC9-7353-4DD9-AD90-1FE19569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81500"/>
            <a:ext cx="814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GitHub Actions e deploy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88A32-8994-45AB-8BF7-430721D7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815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23–24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C58FD-8D3C-4FB9-8728-C605336A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04A07-26FC-47D2-BACE-31CD4CB0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defPPr>
            <a:lvl1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1pPr>
            <a:lvl2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2pPr>
            <a:lvl3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3pPr>
            <a:lvl4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4pPr>
            <a:lvl5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5pPr>
            <a:lvl6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6pPr>
            <a:lvl7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7pPr>
            <a:lvl8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8pPr>
            <a:lvl9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05B7B5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3A74F9-DC0D-469B-9AD3-5BA0DAD7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91125"/>
            <a:ext cx="814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Testes e rotina de manutenção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88041D-2643-43AA-BCB1-F73FECFD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911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25–27</a:t>
            </a:r>
          </a:p>
        </p:txBody>
      </p:sp>
    </p:spTree>
    <p:extLst>
      <p:ext uri="{BB962C8B-B14F-4D97-AF65-F5344CB8AC3E}">
        <p14:creationId xmlns:p14="http://schemas.microsoft.com/office/powerpoint/2010/main" val="984265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137CF-F5BA-46B7-80CD-21A03A1E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01  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72B0D-7426-4BDC-979C-C21742CB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Como o site responde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45C49-1754-469D-B18D-27AB7E5C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09F39-944F-400F-AF1A-B6644FBE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61822-6015-43CD-96F8-7B1EDC5E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23C6D-810B-45F5-8362-5A47B5CF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2394A"/>
          </a:solidFill>
          <a:ln xmlns:a="http://schemas.openxmlformats.org/drawingml/2006/main" w="9525">
            <a:solidFill>
              <a:srgbClr val="05B7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46AA7-5E6B-424A-AB02-18838810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PESSOA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666C9-724B-4C78-BE13-867A14AE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752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HTTPS :443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F1E9A-78F3-45BA-8066-4B4ABAB5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2394A"/>
          </a:solidFill>
          <a:ln xmlns:a="http://schemas.openxmlformats.org/drawingml/2006/main" w="9525">
            <a:solidFill>
              <a:srgbClr val="05B7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07E36-E698-4663-8B61-D3D19098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66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NGINX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E6710-0E7D-4890-BEC6-48AED401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7177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SPA + proxy + TLS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E5921-1C2B-408E-B180-31F3B7EC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2394A"/>
          </a:solidFill>
          <a:ln xmlns:a="http://schemas.openxmlformats.org/drawingml/2006/main" w="9525">
            <a:solidFill>
              <a:srgbClr val="05B7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CFF50-3EC1-4CA7-98FE-BE46955B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35DFE-20BD-492D-96F2-14B1A462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71775"/>
            <a:ext cx="1752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127.0.0.1:8000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FF368-10CE-4A75-BF97-B9D67A3A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57450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8DD7F-ACCD-461E-ABFB-F3DC8885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57450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1E692-DAF9-432D-945D-1A0BEB4D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241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7EE14-0B6C-459D-9B9B-54902224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336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4846F-F79D-46E2-B2D9-972788FB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38425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7519B-5B72-483B-9945-9B112C76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2905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9CFC9-D3E5-46C1-B670-B0BDC9C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O Nginx serve frontend/dist. /api vai ao FastAPI; /media/profile/ vai ao MinIO. O runner do GitHub Actions atualiza o código na própria VM.</a:t>
            </a:r>
          </a:p>
        </p:txBody>
      </p:sp>
    </p:spTree>
    <p:extLst>
      <p:ext uri="{BB962C8B-B14F-4D97-AF65-F5344CB8AC3E}">
        <p14:creationId xmlns:p14="http://schemas.microsoft.com/office/powerpoint/2010/main" val="16499787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094D3-2D1E-48F0-ABE9-55261A85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01  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DC321-3A71-4D56-9E86-26EC6A63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Onde cada peça fica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4811D-B4CC-4750-A6C1-561C4C39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EEC5B-7F09-4C00-B0BF-A8FFC555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66B8E-1B43-4F0B-A09B-657469FF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8CA86-9E37-453B-BEC3-F4139E73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6572250" cy="3876675"/>
          </a:xfrm>
          <a:prstGeom xmlns:a="http://schemas.openxmlformats.org/drawingml/2006/main" prst="roundRect">
            <a:avLst>
              <a:gd name="adj" fmla="val 2948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5B9E4-F0C6-4E8D-9BB2-0EAA2B3E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76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C3D4F-B5C1-45D3-942B-14ECCE32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88486-815F-4316-BF91-74D178D8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076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DA0AB-DE01-441F-BDC4-BA84F8A1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09775"/>
            <a:ext cx="556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ESTRUTURA DE PRODUÇÃO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5382F-EEE7-4004-A20D-8C06C249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615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3C07C-5C80-419A-AFF8-3039EAB6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6134100" cy="450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/home/lasdpc/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CA866-7018-4B25-A0E6-6CA984B6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84046"/>
            <a:ext cx="6134100" cy="450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├── actions-runner/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B4640-D6ED-4949-9DEE-33B09177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34443"/>
            <a:ext cx="6134100" cy="450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└── lasdpc-site/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DA80B-B39C-4634-84B0-CCCEBC63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4839"/>
            <a:ext cx="6134100" cy="450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├── .github/workflows/main.yml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B5332-5C91-4992-9493-65758510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5236"/>
            <a:ext cx="6134100" cy="450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├── docker-compose.yml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52EBC-475F-4A6E-99FE-4BE8C74D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5632"/>
            <a:ext cx="6134100" cy="450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├── frontend/dist/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AA510-5C10-4DD4-BD43-8D7E530A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6029"/>
            <a:ext cx="6134100" cy="450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└── backend/venv/ + .env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4CC16-B065-4612-9A7C-8634C11A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812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Fora do repositório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6313B-2B43-4D0A-AD49-F17AA7BE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37147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/etc/nginx/sites-enabled/lasdpc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/etc/systemd/system/lasdpc-backend.service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/etc/letsencrypt/live/lasdpc.icmc.usp.br/</a:t>
            </a:r>
          </a:p>
        </p:txBody>
      </p:sp>
    </p:spTree>
    <p:extLst>
      <p:ext uri="{BB962C8B-B14F-4D97-AF65-F5344CB8AC3E}">
        <p14:creationId xmlns:p14="http://schemas.microsoft.com/office/powerpoint/2010/main" val="217418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CC7A0-5F5D-48B9-AFBC-BE402989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01  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3CD6A-3530-48AA-939B-CBBC1664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Rotas públicas e portas internas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F2A24-4D26-46DF-8014-8B455067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04EFE-C329-47EF-A26F-2A6B413F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203A8-2A04-444A-B609-446AE53F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1B107-437E-4F1C-9443-ED4C5995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ENDEREÇO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8770C-22AE-4809-BB90-72F7438D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240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DESTINO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DAA54-595D-4DF8-947A-D846CF1D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24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PORTA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FC44D-1979-488E-AFFB-ACA81476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574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https://.../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D011F-FBDF-4C1D-A64B-ECB7BF6D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frontend/dist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1DB14-939D-42A5-80D4-83CBB4F4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574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defPPr>
            <a:lvl1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1pPr>
            <a:lvl2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2pPr>
            <a:lvl3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3pPr>
            <a:lvl4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4pPr>
            <a:lvl5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5pPr>
            <a:lvl6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6pPr>
            <a:lvl7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7pPr>
            <a:lvl8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8pPr>
            <a:lvl9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C7280"/>
                </a:solidFill>
                <a:latin typeface="Menlo"/>
                <a:ea typeface="Menlo"/>
                <a:cs typeface="Menlo"/>
              </a:rPr>
              <a:t>Nginx :443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4F1D6-FDE1-4666-AD92-F5CC821D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04AB0-AA9C-4B26-B16F-2411DBD8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95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https://.../api/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02EB9-6EC6-4E46-A98F-28F42158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D02B7-3B03-4DA3-98F5-34AEDAEF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956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defPPr>
            <a:lvl1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1pPr>
            <a:lvl2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2pPr>
            <a:lvl3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3pPr>
            <a:lvl4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4pPr>
            <a:lvl5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5pPr>
            <a:lvl6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6pPr>
            <a:lvl7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7pPr>
            <a:lvl8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8pPr>
            <a:lvl9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C7280"/>
                </a:solidFill>
                <a:latin typeface="Menlo"/>
                <a:ea typeface="Menlo"/>
                <a:cs typeface="Menlo"/>
              </a:rPr>
              <a:t>127.0.0.1:8000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BF3D3-B73F-4AE2-8DD1-B7E95460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957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415B1-98BC-4D8C-B209-BAD94064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338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https://.../media/profile/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C84CCB-8893-4CE2-9A8D-ECC272FC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338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MinIO / bucket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C9157-FB7D-4D1F-9161-41F0D512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33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defPPr>
            <a:lvl1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1pPr>
            <a:lvl2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2pPr>
            <a:lvl3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3pPr>
            <a:lvl4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4pPr>
            <a:lvl5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5pPr>
            <a:lvl6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6pPr>
            <a:lvl7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7pPr>
            <a:lvl8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8pPr>
            <a:lvl9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C7280"/>
                </a:solidFill>
                <a:latin typeface="Menlo"/>
                <a:ea typeface="Menlo"/>
                <a:cs typeface="Menlo"/>
              </a:rPr>
              <a:t>127.0.0.1:9000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6AD5A-8589-43D9-93AC-A002C84F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0EFF5-5CCC-49DA-9907-15B0C291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720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2D513-396B-4459-B181-8967B99D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720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Banco da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6659D-D043-46A5-B231-F84FB0F3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72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defPPr>
            <a:lvl1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1pPr>
            <a:lvl2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2pPr>
            <a:lvl3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3pPr>
            <a:lvl4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4pPr>
            <a:lvl5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5pPr>
            <a:lvl6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6pPr>
            <a:lvl7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7pPr>
            <a:lvl8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8pPr>
            <a:lvl9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C7280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5C7280"/>
                </a:solidFill>
                <a:latin typeface="Menlo"/>
                <a:ea typeface="Menlo"/>
                <a:cs typeface="Menlo"/>
              </a:rPr>
              <a:t>host :27018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D0CADE-960D-467C-8138-3474501D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O navegador usa sempre o domínio HTTPS; endereços 127.0.0.1 ficam dentro da VM.</a:t>
            </a:r>
          </a:p>
        </p:txBody>
      </p:sp>
    </p:spTree>
    <p:extLst>
      <p:ext uri="{BB962C8B-B14F-4D97-AF65-F5344CB8AC3E}">
        <p14:creationId xmlns:p14="http://schemas.microsoft.com/office/powerpoint/2010/main" val="13233664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BE5577-6DA2-4139-8845-134FEF38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02  PREPARAÇÃO  •  PASSO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39AAF-DA67-4F7C-B324-01E7FF61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Acesso e diagnóstico inicial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22165-EA1D-4B18-928C-058E6F61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04EF6-D0B2-481E-953A-42179B87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6D76E-E5BF-449D-87DC-4955E93C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24506-7160-4793-8A70-25C2C032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7143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C0054-99CD-4348-8BBC-36DCA86B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5EEE8-ABAE-4594-9656-7E31EDEE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C0315-9390-419D-91CD-AAC37F82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EBC03-2A26-4212-8C2C-4AA87C40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613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NO SEU COMPUTADOR → NA VM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E4F57-1712-4A9B-8A57-42AB7A08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672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B29C5-3888-4B80-811E-926858E6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19375"/>
            <a:ext cx="670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ssh lasdpc@lasdpc.icmc.usp.br -p 2291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9FE49-A200-4DCE-9EA8-6305CDAD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2295"/>
            <a:ext cx="670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hostnamectl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BA8FA-68FD-4C8B-BB33-DF926D3B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25215"/>
            <a:ext cx="670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cat /etc/os-release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DA796-C6D7-4803-99AE-99A98CED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28135"/>
            <a:ext cx="670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ss -tlnp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21386-024A-41C1-84E6-CA301834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1055"/>
            <a:ext cx="670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df -hT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FB948-8195-4693-90E4-C775FBD5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47875"/>
            <a:ext cx="319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Confirme antes de alterar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FAD11-3D9C-4BE5-BEB1-D72F60B6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38425"/>
            <a:ext cx="319087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Host esperado: lasdpc-web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Usuário: lasdpc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Veja sistema, portas e espaço livre. Guarde o resultado como linha de base.</a:t>
            </a:r>
          </a:p>
        </p:txBody>
      </p:sp>
    </p:spTree>
    <p:extLst>
      <p:ext uri="{BB962C8B-B14F-4D97-AF65-F5344CB8AC3E}">
        <p14:creationId xmlns:p14="http://schemas.microsoft.com/office/powerpoint/2010/main" val="18500421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1FEFD-6588-43AC-BAF4-93886900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02  PREPARAÇÃO  •  PASSO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B1B7A-8D66-468C-82A7-A2E11DED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Pacotes, DNS e entrada HTTP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8A366-7B7B-48E6-86E2-A1C1E4EE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7224F-3DAF-4F10-8D56-E9264695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5DDCA-77DA-4298-BEB2-5C23BBA8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006A4-BD0D-477E-BE0B-9B5A8D3B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7334250" cy="3457575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52BD2-290D-4F64-8FB2-4E61556F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24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F07F0-A063-4B76-93B4-50F4D3A7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82357-B4AD-4F68-A268-423F1639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24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1A2B2-5168-44A2-8C77-7A927322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57400"/>
            <a:ext cx="632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VM NOVA  /  VERIFICAÇÕES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9C4BB-ECDF-4BF9-9E1F-35F01B0E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691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7751F-FF6F-47AA-89C5-E9CD87BA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6896100" cy="45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apt update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E55AC-C0FE-4ACC-956D-7068C65F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36888"/>
            <a:ext cx="6896100" cy="45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apt install -y git nginx python3-venv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6688D-CC03-4E51-BF60-92EBC522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92500"/>
            <a:ext cx="6896100" cy="45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node --version &amp;&amp; npm --version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0261C-E4F4-4CCB-B649-B783E986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8113"/>
            <a:ext cx="6896100" cy="45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 compose 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04C21-9B8F-419A-8AF7-090A5858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3725"/>
            <a:ext cx="6896100" cy="45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getent ahostsv4 lasdpc.icmc.usp.br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FFBB4-4189-4282-AB7F-3C66DC29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9338"/>
            <a:ext cx="6896100" cy="45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ss -tlnp | grep -E ":(80|443)"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9226F-9CAA-4C52-ADF9-2D148DB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38350"/>
            <a:ext cx="319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Pré-requisito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149524-81A9-474C-862D-CF5F645C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28900"/>
            <a:ext cx="319087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O DNS A deve apontar para a VM. Abra 80 e 443 na rede. A porta SSH 2291 deve continuar acessível.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Instale Docker Engine, Compose e uma versão de Node compatível com o projeto.</a:t>
            </a:r>
          </a:p>
        </p:txBody>
      </p:sp>
    </p:spTree>
    <p:extLst>
      <p:ext uri="{BB962C8B-B14F-4D97-AF65-F5344CB8AC3E}">
        <p14:creationId xmlns:p14="http://schemas.microsoft.com/office/powerpoint/2010/main" val="406679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6FBBA-0E68-4051-8C2E-2820C9E0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02  PREPARAÇÃO  •  PASSO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0B400-25C8-49A0-8089-B1CA00AC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Código no caminho de produção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B1598-DC9C-4104-8E45-FDB8FD59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DF3B6-11F1-4D91-B0C1-06F0F10E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0AEEA-8A39-463E-ADA6-D4706B53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65BB7-7A41-4117-9ED0-635C9B47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7762875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85654-797A-4753-828C-069CB8E0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00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2E3C3-6FFA-4FE1-AE17-E271AA96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0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143D5-9D26-4A6A-8B84-CD998EDF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200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22D83-B8C7-448C-9E61-14BAACE2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6753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APENAS SE A PASTA AINDA NÃO EXISTIR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503C8-5820-48DC-B455-E89E645D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7343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D2DFF-B27E-401D-9A4E-72F7B6A0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57475"/>
            <a:ext cx="7324725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/home/lasdpc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84AFE-825F-4878-84CE-9A8F6AC9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95638"/>
            <a:ext cx="7324725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clone https://github.com/LASDPC/lasdpc-site.git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5EFD2-B6A9-455F-8716-5B674183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7324725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lasdpc-site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70CA2-18E2-4BBF-BA62-CFA711E2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71963"/>
            <a:ext cx="7324725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ls .github/workflows frontend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7CC7A-FF41-479A-B5BD-D28DC632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 esperado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CF18E-FDC7-4E7C-88EE-C402A014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33675"/>
            <a:ext cx="2667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Repositório em</a:t>
            </a:r>
          </a:p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/home/lasdpc/lasdpc-site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O usuário lasdpc precisa ler o código e gravar frontend/dist no build.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0C4C3-5FE2-4721-9684-68AE6CFB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Na VM existente, primeiro confira git status e permissões; não clone sobre a pasta de produção.</a:t>
            </a:r>
          </a:p>
        </p:txBody>
      </p:sp>
    </p:spTree>
    <p:extLst>
      <p:ext uri="{BB962C8B-B14F-4D97-AF65-F5344CB8AC3E}">
        <p14:creationId xmlns:p14="http://schemas.microsoft.com/office/powerpoint/2010/main" val="7166427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E854E9-A553-4603-918D-1B65DF9E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02  PREPARAÇÃO  •  PASSO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E341A-78E8-4271-8925-25ADF36F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Variáveis do backend e do MinIO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45929-E22B-4DC3-8652-7D745549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78521-86FF-48CC-B063-C680CF45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5024F-6A66-4C64-BB71-009BA430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8131C-AECD-4B12-98D5-5ADFB161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72009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73F3D-5990-486B-BD96-92EBFE7C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33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EF02D-480E-4506-92A9-24D9BB23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6262F-35B2-449E-A98E-05D6F387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33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5EC41-D600-4F69-9072-505CE909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669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EXEMPLO DE CONTEÚDO  /  NÃO EXECUTAR LINHAS 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91E9E-8C63-41C3-87C7-32C9562B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678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BF6D9-9A5F-44B6-BD65-A845D3F3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cp backend/.env.example backend/.env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43715-F896-4B1A-99CA-F34C4482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chmod 600 backend/.env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545BF-E881-460B-B8F9-3587714B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1D8E9"/>
                </a:solidFill>
                <a:latin typeface="Menlo"/>
                <a:ea typeface="Menlo"/>
                <a:cs typeface="Menlo"/>
              </a:rPr>
              <a:t># edite backend/.env com valores de produção: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E8EDF-16A6-4A6C-9FC2-61F90770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MONGO_URI=mongodb://localhost:27018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CDEFD-1DB6-47B0-B536-B291406F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MINIO_ENDPOINT=http://127.0.0.1:9000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BA311-1654-44E9-9678-5618BF3F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MINIO_PUBLIC_URL=/media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1AF77-C38E-43CA-9184-23DA70DB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MINIO_BUCKET=lasdpc-media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022F0-6812-438A-987E-7EE24A71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Segredos obrigatórios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DE459-F40A-4677-87D9-DEBC0CBF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31432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Defina JWT_SECRET, MINIO_ROOT_USER, MINIO_ROOT_PASSWORD e credenciais de admin.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CORS_ORIGINS deve incluir a origem HTTPS do site.</a:t>
            </a:r>
          </a:p>
        </p:txBody>
      </p:sp>
    </p:spTree>
    <p:extLst>
      <p:ext uri="{BB962C8B-B14F-4D97-AF65-F5344CB8AC3E}">
        <p14:creationId xmlns:p14="http://schemas.microsoft.com/office/powerpoint/2010/main" val="14685496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88E8A-038E-4355-868B-AD47DD4A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02  PREPARAÇÃO  •  PASSO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A307A-E518-440B-80CA-879F6B1F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MongoDB e MinIO com Docker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E3667-135D-4565-8D6F-86EC3FD6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19FF9-8868-4BE7-A92E-97D24834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8D121-7BF0-483E-A9D6-2EFE5798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FC64F-D388-4D15-94B4-37B12CC9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3533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3122A-DDF5-47BC-AEFC-FE95FE2C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90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F9904-A898-47F2-9FDE-4E8D567A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07C4D-CA6F-42A4-9954-FF74F7DE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90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AA30C-8A22-42FA-B2AF-9D9EE7E0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24075"/>
            <a:ext cx="634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SUBIR E CONFERIR OS SERVIÇOS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84330-1FA6-4696-BAD1-E3A1F607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4507B-876E-479F-89FC-DFF05CB2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691515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/home/lasdpc/lasdpc-site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9EBC8-CC60-4CF7-B71C-FCD918B1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2770"/>
            <a:ext cx="691515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 compose config --services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ACCBD-B887-422B-A2D0-EE49CFD4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7590"/>
            <a:ext cx="691515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 compose up -d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809AB-9FB6-42C8-9722-9DE040EE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42410"/>
            <a:ext cx="691515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 compose 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0003C-5F28-4285-8D38-B4756F6F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07230"/>
            <a:ext cx="691515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curl -fsS http://127.0.0.1:9000/minio/health/live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EB5CF-679E-4710-8884-F75092AD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Compose atual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15847-35E9-4D68-98E1-5F13E702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30670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mongo:7 publica 27018 no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MinIO usa 127.0.0.1:9000 e volume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minio-init cria lasdpc-media.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57A00-8047-43F6-9747-7F8D1CD0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Não remova volumes para corrigir problemas de URL ou de imagem.</a:t>
            </a:r>
          </a:p>
        </p:txBody>
      </p:sp>
    </p:spTree>
    <p:extLst>
      <p:ext uri="{BB962C8B-B14F-4D97-AF65-F5344CB8AC3E}">
        <p14:creationId xmlns:p14="http://schemas.microsoft.com/office/powerpoint/2010/main" val="12973479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AAC84-6C88-4947-991A-73E8511D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02  PREPARAÇÃO  •  PASSO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DB5B4-1791-4652-A8CC-8C805545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Python e FastAPI no ambiente virtual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CB5A8-0FFC-43DA-B1C6-07EA186F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E61FD-F0C6-46EC-AE05-1BDB237A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3CEAF-6D3E-427B-AFF6-2848B23C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C3F8D-39CD-4A26-953B-8A76FC3E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8581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AD7E1-7AB0-4439-9F40-9D6EB0B6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90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B4338-75AD-4885-B454-ED0783A0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FAEBF-0CD8-4713-A4AA-C331547C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90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5F9AF-CAB3-4640-9997-92BA4144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24075"/>
            <a:ext cx="6848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PRIMEIRO TESTE MANUAL  /  CTRL+C PARA SAIR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7A1A5-A0B2-4FE6-A6BD-A7284658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7439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EF546-8183-4370-961F-6358F0AE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74199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/home/lasdpc/lasdpc-site/backend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53366-BC79-49E1-A3DE-5813D9A8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93720"/>
            <a:ext cx="74199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venv venv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DA68E-9D11-4BB8-8A6C-79E47138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39490"/>
            <a:ext cx="74199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venv/bin/activate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9DF5E-0478-4827-B4D3-70B49DEE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5260"/>
            <a:ext cx="74199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pip install -r requirements.txt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E36C4-58C6-4CE6-88AF-3B68A5C7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1030"/>
            <a:ext cx="7419975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venv/bin/uvicorn main:app --host 127.0.0.1 --port 8000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585FB-1952-412B-BF14-79924B27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61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Teste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70016-D764-4873-B303-F6008629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61937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Em outro terminal da VM: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curl -i http://127.0.0.1:8000/docs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Depois, encerre o teste manual e crie o serviço systemd.</a:t>
            </a:r>
          </a:p>
        </p:txBody>
      </p:sp>
    </p:spTree>
    <p:extLst>
      <p:ext uri="{BB962C8B-B14F-4D97-AF65-F5344CB8AC3E}">
        <p14:creationId xmlns:p14="http://schemas.microsoft.com/office/powerpoint/2010/main" val="11872183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EFDE81-ECA0-494A-A459-EF4FBCA1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02  PREPARAÇÃO  •  PASSO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96DC7-57AF-45B9-B04C-BD4CB383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Serviço systemd para o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151EB-6D37-4577-B22F-6481B995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7E7E6-B2AD-447A-8007-524F94E8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74232-B498-4D4F-B610-58A77403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07B0B-3545-4DB3-A28B-3BDC9327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239000" cy="392430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A4B11-0A8E-4838-A603-4B148481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3E775-C779-4322-B56E-906BCE10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9B5A6-D4FB-4EFB-93CD-7D1F3CBD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000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364D3-5749-4FD3-A4CE-B2EC07CC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33575"/>
            <a:ext cx="622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/etc/systemd/system/lasdpc-backend.service  /  MODELO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D02A4-5063-4DA6-9056-991C6FA3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681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EC6E0-5034-4328-81CC-B460F151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6800850" cy="290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[Unit]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582B4-EBB8-4492-B12A-D4CF2D4A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8395"/>
            <a:ext cx="6800850" cy="290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Description=LASDPC FastAPI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200C6-AD77-46BB-80DA-6FB166E4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39341"/>
            <a:ext cx="6800850" cy="290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After=network.target docker.service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289D3-75B7-40AD-AF2A-09E5DF00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0286"/>
            <a:ext cx="6800850" cy="290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[Service]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88C75-48B1-4775-AB99-7778F9CA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21232"/>
            <a:ext cx="6800850" cy="290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User=lasdpc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D633A-CA7A-49A6-8EB5-691034D1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2177"/>
            <a:ext cx="6800850" cy="290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WorkingDirectory=/home/lasdpc/lasdpc-site/backend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F8B4E-6674-4195-AFBC-D20793CB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03123"/>
            <a:ext cx="6800850" cy="290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ExecStart=/home/lasdpc/lasdpc-site/backend/venv/bin/uvicorn \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16FEB-6039-4C40-845C-E8344DD3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4068"/>
            <a:ext cx="6800850" cy="290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main:app --host 127.0.0.1 --port 8000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5F075-12B2-4260-86AF-7CA65489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5014"/>
            <a:ext cx="6800850" cy="290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Restart=always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DEAA9-A8B8-4E64-85AD-726FF86D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75959"/>
            <a:ext cx="6800850" cy="290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[Install]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E2FF9-B677-4087-A962-538B4F6A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66905"/>
            <a:ext cx="6800850" cy="290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WantedBy=multi-user.target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FD1CD-37F2-461C-807B-041504A1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907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Ative e teste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DFEE6D-0D93-49C1-AEB3-CE27487E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81275"/>
            <a:ext cx="32385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sudo systemctl daemon-reload</a:t>
            </a:r>
          </a:p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sudo systemctl enable --now lasdpc-backend</a:t>
            </a:r>
          </a:p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sudo systemctl status lasdpc-backend --no-pager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Na VM atual, confira a unit real antes de substituí-la.</a:t>
            </a:r>
          </a:p>
        </p:txBody>
      </p:sp>
    </p:spTree>
    <p:extLst>
      <p:ext uri="{BB962C8B-B14F-4D97-AF65-F5344CB8AC3E}">
        <p14:creationId xmlns:p14="http://schemas.microsoft.com/office/powerpoint/2010/main" val="20855713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FC2C7-D3D3-4E1A-A419-BC9393A9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02  PREPARAÇÃO  •  PASSO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AF2B5-F824-48A2-87A1-0686D794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Build do frontend no host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C20A3-7644-4733-9D0B-A7D50FC6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23C41-0B4F-4CDB-8D29-7CE56A60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7BC11-50DE-4C6E-B97B-AC4DAB2C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2D6A9-4B3A-4C45-8AF7-1E579370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7467600" cy="3228975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E5B56-D1EF-42C4-90C9-68D1BF51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90CB3-962A-4DA7-95B5-F3F58C9B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CE740-BC84-44EF-B692-331D1894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72A1C-0BFF-4C18-91F3-7891FC39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VITE_* É INCORPORADO NO 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2DAA6-4408-4A61-840C-FC602028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A3040-D0DA-44A6-B1F2-5A3B3A4C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19375"/>
            <a:ext cx="7029450" cy="357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/home/lasdpc/lasdpc-site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67BBE-05B6-4C0A-BA99-25E47EEC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7243"/>
            <a:ext cx="7029450" cy="357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cp frontend/.env.example frontend/.env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B485C-3FE3-4048-A7AB-6F50B3AD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5111"/>
            <a:ext cx="7029450" cy="357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1D8E9"/>
                </a:solidFill>
                <a:latin typeface="Menlo"/>
                <a:ea typeface="Menlo"/>
                <a:cs typeface="Menlo"/>
              </a:rPr>
              <a:t># em frontend/.env: VITE_API_URL=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2FE97-9FE6-4591-82C9-B6C63D42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2979"/>
            <a:ext cx="7029450" cy="357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D8E9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1D8E9"/>
                </a:solidFill>
                <a:latin typeface="Menlo"/>
                <a:ea typeface="Menlo"/>
                <a:cs typeface="Menlo"/>
              </a:rPr>
              <a:t># em frontend/.env: VITE_MINIO_PUBLIC_URL=/media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26997-F13C-4CBD-BF07-FC6302F2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0846"/>
            <a:ext cx="7029450" cy="357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frontend &amp;&amp; npm install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413F1-0FA3-4979-8E4D-7636F55A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8714"/>
            <a:ext cx="7029450" cy="357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npm run 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46779-9AF3-4174-A7BD-88D824B5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6582"/>
            <a:ext cx="7029450" cy="357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test -f dist/index.html &amp;&amp; echo "build OK"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CB423-3226-49D8-A2D6-5CF35BB9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AF424-BB26-49C4-8398-6FB2ED06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29527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Nginx servirá</a:t>
            </a:r>
          </a:p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/home/lasdpc/lasdpc-site/frontend/dist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Alterou VITE_*? Execute novo npm run build. Não coloque senhas em variáveis VITE_.</a:t>
            </a:r>
          </a:p>
        </p:txBody>
      </p:sp>
    </p:spTree>
    <p:extLst>
      <p:ext uri="{BB962C8B-B14F-4D97-AF65-F5344CB8AC3E}">
        <p14:creationId xmlns:p14="http://schemas.microsoft.com/office/powerpoint/2010/main" val="3855373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DD160F-54F5-482D-B25B-79DAD8AA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03  NGINX  •  PASSO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97E4A-DA2E-42E9-B189-15A5082C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Primeiro, um site HTTP funcional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EFE89-43A5-4F64-A578-E1B01951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00368-0FA8-4D51-B4CB-E26C6D42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6BD66-6DB8-42FB-B265-BDD8486D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BC5D1-5DBF-40E7-B396-1EF32B62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039100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A14CD-D7C6-493D-8925-6D161525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84C6F-2084-4F35-B9BE-4255E8EF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071AC-CA20-4E5D-A31F-9D058054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000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47BBD-5CBF-485F-A6A4-6EED01AC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33575"/>
            <a:ext cx="702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/etc/nginx/sites-available/lasdpc  /  BASE INICIAL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06729-5F1E-41CD-9E04-D712DCF0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762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3735F-9178-4A38-8DEB-F28E21AC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760095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server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800BE-275E-46F2-85D9-6F3DCCE7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6117"/>
            <a:ext cx="760095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listen 80;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5E0A8-695C-44F1-B7F1-A344F233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34783"/>
            <a:ext cx="760095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server_name lasdpc.icmc.usp.br;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4F8E0-1068-411A-ADD5-4A5DFB23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3450"/>
            <a:ext cx="760095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root /home/lasdpc/lasdpc-site/frontend/dist;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1E26F-7EFA-465D-98E6-61F7F38B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2117"/>
            <a:ext cx="760095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index index.html;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9DF2F-EFE5-4B4A-BDEF-30E14A69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0783"/>
            <a:ext cx="760095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location / {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67B24-257D-46DE-A405-D3EF74B8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89450"/>
            <a:ext cx="760095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try_files $uri $uri/ /index.html;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6F9B3-1177-4800-B24A-71DAF210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8117"/>
            <a:ext cx="760095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02879-43F2-49A2-8CAD-FF2F9CF0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6783"/>
            <a:ext cx="760095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45070-C230-4FDD-85FC-94EF3F3E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193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Crie o arquivo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3BB8EE-9DB9-4803-8711-21E836B0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09850"/>
            <a:ext cx="24765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Cole este bloco no site do Nginx. O domínio deve resolver para esta VM e a porta 80 precisa estar acessível pela internet.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95FF8-DF39-474E-B2EF-AA8399E4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sudo nano /etc/nginx/sites-available/lasdpc</a:t>
            </a:r>
          </a:p>
        </p:txBody>
      </p:sp>
    </p:spTree>
    <p:extLst>
      <p:ext uri="{BB962C8B-B14F-4D97-AF65-F5344CB8AC3E}">
        <p14:creationId xmlns:p14="http://schemas.microsoft.com/office/powerpoint/2010/main" val="2760015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8D6F61-4770-4462-ADE4-CEF92401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03  NGINX  •  PASSO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DF2A8-C902-47F0-9694-B853F341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API, ativação e teste HTTP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0C20F-3F5E-42E5-841B-3CE6B2DF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2FD39-C5B2-40D9-96FE-B196B4B6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DECD5-8A06-4889-BBC5-EA6D65F7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9BD41-9235-4E11-8F80-840E8E73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71056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C4412-8AD8-4D0D-BD4F-F8732BF6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38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96D0E-D124-4C3B-9A71-A8D7C455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D029B-83CB-42A6-B6BA-C218359D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038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CF806-AF34-40B6-9F76-13592478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716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INSIRA DENTRO DO SERVER DA PÁGINA ANTERIOR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9D7ED-A1E6-4CA3-BA0B-5BDC1DFF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668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1342D-0213-459C-BCC8-84B07C96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6667500" cy="36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location /api/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C2756-6808-4C61-BB6D-0496088B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1582"/>
            <a:ext cx="6667500" cy="36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proxy_pass http://127.0.0.1:8000;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F9A17-FAC9-44BD-BB93-292FF7F3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27614"/>
            <a:ext cx="6667500" cy="36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proxy_set_header Host $host;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0481E-C254-405B-8B28-E58A4E1A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3646"/>
            <a:ext cx="6667500" cy="36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proxy_set_header X-Real-IP $remote_addr;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13A5E-E7B8-4646-B951-A2E8BC7D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9679"/>
            <a:ext cx="6667500" cy="36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proxy_set_header X-Forwarded-For $proxy_add_x_forwarded_for;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59F74-4E96-43AA-8C47-C42D3F8A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5711"/>
            <a:ext cx="6667500" cy="36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proxy_set_header X-Forwarded-Proto $scheme;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C6F80-2F2E-4BF4-9CA3-8F1B8060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1743"/>
            <a:ext cx="6667500" cy="36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3FF44-457A-44C3-92C7-48F46AA2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47850"/>
            <a:ext cx="35242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301D1-8AF8-4591-AED3-73EE7880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038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58907-8EDE-4334-9FDC-43F037CE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A7066C-272F-40BE-A5CD-71A2AC61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38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F09A0-6FD8-448E-A481-F9CB6132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716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HABILITAR  /  VALIDAR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3BD022-DDDB-43F7-B80C-D906D768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336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EEA67E-02C4-4103-99AA-2E7C6984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3086100" cy="512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/etc/nginx/sites-enabled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AA3028-227A-45A0-9761-29053FBC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7995"/>
            <a:ext cx="3086100" cy="512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ln -s ../sites-available/lasdpc 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99E01C-143C-4125-BC48-D1A52E36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0440"/>
            <a:ext cx="3086100" cy="512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nginx -t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B94E8-2980-416A-888C-408D142D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2885"/>
            <a:ext cx="3086100" cy="512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systemctl enable --now nginx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C8798C-370E-45B0-BDF1-D1D36F7B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45330"/>
            <a:ext cx="3086100" cy="512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systemctl reload nginx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52F988-57B2-404F-A3FB-60F72477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Teste de fora da VM: curl -I http://lasdpc.icmc.usp.br</a:t>
            </a:r>
          </a:p>
        </p:txBody>
      </p:sp>
    </p:spTree>
    <p:extLst>
      <p:ext uri="{BB962C8B-B14F-4D97-AF65-F5344CB8AC3E}">
        <p14:creationId xmlns:p14="http://schemas.microsoft.com/office/powerpoint/2010/main" val="13286790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83F08-4D79-4AB7-B634-73C086E9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03  CERTBOT  •  PASSO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D9F97-F3F6-44C5-8FF3-A36DC590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Pré-voo do Certbot: DNS + porta 80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3A235-1F5E-40B4-8217-DAF579E0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0D4DF-3375-4091-AE31-5ED51A01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4399E-D651-48C7-BF28-230EFAFF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CA2A7-5AB1-45E3-9090-5FF405FB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46760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2491D-FD7C-485C-8A6C-2ED646AF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90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084E0-480D-40FC-824D-39D5DA50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903DA-66A9-4E40-B1A4-ED7F28E1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90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D74F9-3500-4C11-B786-DD529FB9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24075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CONFIRA ANTES DE SOLICITAR CERTIFICADO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54B96-6868-46EE-BA70-16003597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A5AA5-067E-4698-8CEC-78267C7D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7029450" cy="569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getent ahostsv4 lasdpc.icmc.usp.br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51E4C-ACB6-490D-BCEA-49828246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7069"/>
            <a:ext cx="7029450" cy="569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nginx -t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731B7-6A18-4CAE-B5E3-56E7D9DC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86188"/>
            <a:ext cx="7029450" cy="569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ss -tlnp | grep ":80 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ECB57-28A8-4CB0-B8D0-8C4EDEAE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55306"/>
            <a:ext cx="7029450" cy="569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curl -I http://lasdpc.icmc.usp.br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4F17F-BD7F-4EB2-8BC2-B054BFCA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47875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precisa passar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A522A-F0CC-431E-9CBB-B1E81D16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38425"/>
            <a:ext cx="29146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DNS aponta para o IP público da VM.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Nginx responde em HTTP pela porta 80, inclusive a partir de outra rede.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HTTP-01 só valida pela porta 80.</a:t>
            </a:r>
          </a:p>
        </p:txBody>
      </p:sp>
    </p:spTree>
    <p:extLst>
      <p:ext uri="{BB962C8B-B14F-4D97-AF65-F5344CB8AC3E}">
        <p14:creationId xmlns:p14="http://schemas.microsoft.com/office/powerpoint/2010/main" val="10505640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2F78D-4ECA-48DF-8650-30B515F1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03  CERTBOT  •  PASSO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48A3E-9AD4-45CB-AA69-D77A55CB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Instalação do Certbot em VM nova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6D394-CF0F-4D0E-ADF2-83EDBAED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067AC-616D-4CE3-997D-9A912295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DB2CE-3D3E-45F8-9380-3AFCAF11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2BF71-84BD-4D7D-8237-9D266FE1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7286625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E2A5B-2AD0-4E26-B777-08E23D16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52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8D1EC-56E3-4E0F-BF28-7957AEDC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199FA-0C9D-42A9-A6E1-DCD55940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52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989FC-28BF-447C-8D9F-F2E00E7F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85975"/>
            <a:ext cx="6276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APENAS SEM INSTALAÇÃO PRÉVIA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5884F-E75D-420F-B5A0-AB068CF5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6867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37722-3363-4EE6-97F0-419A6D1F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6848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command -v certbot || 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42061-8D06-4FEA-A89F-6E9013F3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6848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apt update &amp;&amp; sudo apt install -y snapd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2CE94-9B70-4410-8ECA-7F9A1F4D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6848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snap install --classic certbot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AF928-C279-4290-BF47-FFD79AEA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6848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ln -s /snap/bin/certbot /usr/local/bin/certbot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D0D28-BE78-48BD-9DF4-4D2D0ECE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6848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certbot --version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95A79-8BDF-4C0E-9485-F8A59C78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Instalação atual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EAF7C4-D2E7-4010-B951-C17F1B88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31432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A VM observada tinha Certbot via pacote do Ubuntu, em /usr/bin/certbot, com certbot.timer.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Não misture apt e snap em uma VM existente. Verifique primeiro a instalação.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901C3-03C2-4510-8730-2E1F5226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O método snap acima segue as instruções atuais do projeto Certbot.</a:t>
            </a:r>
          </a:p>
        </p:txBody>
      </p:sp>
    </p:spTree>
    <p:extLst>
      <p:ext uri="{BB962C8B-B14F-4D97-AF65-F5344CB8AC3E}">
        <p14:creationId xmlns:p14="http://schemas.microsoft.com/office/powerpoint/2010/main" val="19926715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3C7D3-B985-455E-BF25-839E1499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03  CERTBOT  •  PASSO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9172D-CB4A-4059-A277-322F2C42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Emitir e instalar o certificado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07218-4C33-431D-B91E-2FD5AD10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F78D4-7B0F-4733-A03E-99FDB9D5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A57DD-AB30-4408-A7C6-6AD691DA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59C6F-DB91-4DE4-8567-20BDC7BA3B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a2a1cc85e4f51"/>
          <a:stretch xmlns:a="http://schemas.openxmlformats.org/drawingml/2006/main"/>
        </p:blipFill>
        <p:spPr>
          <a:xfrm xmlns:a="http://schemas.openxmlformats.org/drawingml/2006/main">
            <a:off x="7910513" y="1714500"/>
            <a:ext cx="3476625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787DF-10D3-4BE4-BDA1-B2DAA3FA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676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6E91F-1481-4CB1-B7D4-BCF585B3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47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C5ECC-D94A-4AA7-905A-83E2C542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9BD9D-A375-4BE4-A329-55D2B4F3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247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1852A-BBD2-49B9-8801-A1B80ECB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81225"/>
            <a:ext cx="575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EMISSÃO INTERATIVA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4D6A6-13B9-4C24-B623-25A73076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B9FC7-BFD9-4B79-BDB8-84C78F28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6324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certbot --nginx -d lasdpc.icmc.usp.br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372C4-D4ED-48D3-B905-C9E0D234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38525"/>
            <a:ext cx="6324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nginx -t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931F6-3598-4036-8E48-E04792C1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676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Informe o e-mail da equipe e aceite os termos quando solicitado. O plugin valida o domínio e configura o Nginx para HTTPS.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2767F-4CCC-4725-88FB-D4854B9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Certbot emite e renova; Nginx apresenta o certificado ao navegador.</a:t>
            </a:r>
          </a:p>
        </p:txBody>
      </p:sp>
    </p:spTree>
    <p:extLst>
      <p:ext uri="{BB962C8B-B14F-4D97-AF65-F5344CB8AC3E}">
        <p14:creationId xmlns:p14="http://schemas.microsoft.com/office/powerpoint/2010/main" val="13156154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AE42B-B02B-4AF2-AE12-62CB7FDE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03  CERTBOT  •  PASSO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97175-6C51-4979-A741-31F0AD1C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Conferir HTTPS e arquivos gerados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994D4-4846-4501-A609-9AA40121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A79E2-46F5-40FE-A362-34CF11E6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1C52A-5087-4579-AAB9-C6543691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2655B-7CE2-4234-89DD-D9FC448D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7400925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46C59-4C68-4306-B647-BE0498D5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52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C4D55-FC6C-4E9E-8694-0822FDFF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69582-7967-4B5D-B769-FDB5E1C7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52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F4EEE-60C1-473E-843B-5C99FCB5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85975"/>
            <a:ext cx="639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VALIDAÇÃO APÓS A EMISSÃO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FDE7A-6454-485B-B9A3-4DC9BEAE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6981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C9086-14E9-4057-B334-801EE6A0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6962775" cy="64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certbot certificates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D68AF-BB52-46CA-90BD-B3F54203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0406"/>
            <a:ext cx="6962775" cy="64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nginx -t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95677-4B6F-475E-911D-725E3998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90963"/>
            <a:ext cx="6962775" cy="64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curl -IL http://lasdpc.icmc.usp.br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BFCAF-366C-4AE0-AB7B-C962CBE0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1519"/>
            <a:ext cx="6962775" cy="64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curl -Iv https://lasdpc.icmc.usp.br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45A41-118C-4DC4-BA5E-F6856948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Esperado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D9D116-4EC0-4140-9D09-9DE0FD55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38425"/>
            <a:ext cx="300037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HTTP redireciona para HTTPS.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O certificado cobre lasdpc.icmc.usp.br.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fullchain.pem e privkey.pem ficam em /etc/letsencrypt/live/...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80859-1FBA-4EC7-97EB-F9C3DC5D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Nunca copie nem publique privkey.pem.</a:t>
            </a:r>
          </a:p>
        </p:txBody>
      </p:sp>
    </p:spTree>
    <p:extLst>
      <p:ext uri="{BB962C8B-B14F-4D97-AF65-F5344CB8AC3E}">
        <p14:creationId xmlns:p14="http://schemas.microsoft.com/office/powerpoint/2010/main" val="11374138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556E4C-92FB-4884-A613-2F2452B7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03  CERTBOT  •  PASSO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1A21A-84D0-40F4-9ABF-2D840B62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Renovação automática e teste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A21C7-0215-4144-9F5B-8D64BAC4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66F06-A4FC-4A03-8162-17F69AF1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AB779-2DDC-4609-9C28-911C1283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E501D-D72F-4F88-A09E-687E3F59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496175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EB9D0-C338-417C-9258-9652709D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6BDE3-7BAA-4CF5-9CAE-B760059C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1881C-6F12-4887-B38E-F881589D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23C3B-F767-4E00-9AF4-6B567B23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76450"/>
            <a:ext cx="6486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TESTE SEM TROCAR O CERTIFICADO REAL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878BD-2952-49AB-A524-C5AF87B5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7077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B5A55-F1B1-4E6B-820D-461EFBEF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7058025" cy="64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certbot renew --dry-run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26D7B-803C-4B53-9565-D3C03BEF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40881"/>
            <a:ext cx="7058025" cy="64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systemctl list-timers --all | grep -Ei "certbot|snap"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92D9F-F5DE-4C80-A341-4D59EB77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1438"/>
            <a:ext cx="7058025" cy="64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certbot certificates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00ABB-FA26-4BD1-A10C-DDB33CA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1994"/>
            <a:ext cx="7058025" cy="64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tail -n 80 /var/log/letsencrypt/letsencrypt.log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844BE-0425-41DA-B99D-75C02EFD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 VM observada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F6D15A-708F-44BE-8C4A-E7772551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0800"/>
            <a:ext cx="29718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certbot.timer estava ativo; certbot.service executava /usr/bin/certbot renew.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O dry-run passou em 21/10/2026. Em uma VM nova via snap, o agendamento pode ter outro nome.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2DC82-2F84-4BB8-83C1-4F5154C1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Depois de mudanças em DNS ou Nginx, repita o dry-run.</a:t>
            </a:r>
          </a:p>
        </p:txBody>
      </p:sp>
    </p:spTree>
    <p:extLst>
      <p:ext uri="{BB962C8B-B14F-4D97-AF65-F5344CB8AC3E}">
        <p14:creationId xmlns:p14="http://schemas.microsoft.com/office/powerpoint/2010/main" val="1280100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3D25C-B818-4634-86EB-6B1F4DAC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03  CERTBOT  •  PASSO 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EC1D4-3B2E-4BCB-9A4D-550AD7C4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Quando a emissão ou renovação falha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08121-A75C-4B85-8C2E-D47BDD6D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568AB-B11C-4E8C-9075-4328D393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79E65-5797-47E4-9B61-F84B001B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EF141-452E-4A2D-834B-3B7BE19D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80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DNS incorreto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423AA-CA2B-4D55-BC8E-A03B1F0D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8859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5B7B5"/>
                </a:solidFill>
                <a:latin typeface="Menlo"/>
                <a:ea typeface="Menlo"/>
                <a:cs typeface="Menlo"/>
              </a:rPr>
              <a:t>getent ahostsv4 lasdpc.icmc.usp.br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B2450-2E57-4D12-AE22-52C23B93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8595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Corrigir registro A e aguardar propagação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C1A46-0120-417F-BD15-50D83A8E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9CE80-D8DC-438A-BF2F-9ECE9C68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80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Timeout no desafio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CCC6C-EA5B-4AE2-B7EF-CC8DA83C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765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5B7B5"/>
                </a:solidFill>
                <a:latin typeface="Menlo"/>
                <a:ea typeface="Menlo"/>
                <a:cs typeface="Menlo"/>
              </a:rPr>
              <a:t>curl -I http://lasdpc.icmc.usp.br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AEE7B-FE82-402C-9F2B-7D1D2BA1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7655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Liberar 80 até o Nginx, testar de fora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27890-ED9D-400C-A91C-A9A287A7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611C9-DAAE-4137-94D6-A35BC26E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280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Nginx inválido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3B1B5-8E59-4CB0-BF42-2B013222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8671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5B7B5"/>
                </a:solidFill>
                <a:latin typeface="Menlo"/>
                <a:ea typeface="Menlo"/>
                <a:cs typeface="Menlo"/>
              </a:rPr>
              <a:t>sudo nginx -t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8AC8C-ADDF-45AA-BD69-7E7F6278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6715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Corrigir configuração antes de repetir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D3DA2-32CB-4983-BF55-5ABB45FB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8AEBB-2990-4F3B-905F-ABAB222C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280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Renovação falhou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D6BFB-E8CC-4BA8-9A96-511C85F8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8577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5B7B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5B7B5"/>
                </a:solidFill>
                <a:latin typeface="Menlo"/>
                <a:ea typeface="Menlo"/>
                <a:cs typeface="Menlo"/>
              </a:rPr>
              <a:t>sudo certbot renew --dry-run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94346-C60C-4AC2-8781-B0F46589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5775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Ler log /var/log/letsencrypt/letsencrypt.log</a:t>
            </a:r>
          </a:p>
        </p:txBody>
      </p:sp>
    </p:spTree>
    <p:extLst>
      <p:ext uri="{BB962C8B-B14F-4D97-AF65-F5344CB8AC3E}">
        <p14:creationId xmlns:p14="http://schemas.microsoft.com/office/powerpoint/2010/main" val="15409096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C9FD1-1F85-4EB0-9F61-6AC436DC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03  NGINX  •  PASSO 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87CE8-D854-458B-A30E-DC5A4200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Rota HTTPS para imagens de perfil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69CBE-5034-4B22-A30C-3C52D72A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B0B0B-FCCB-4893-8C77-7D026216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63F80-C95B-439B-AF64-7ACA963E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0B55D-BAC1-44B1-9EBB-E4B874B3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81343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BAEAA-EEC6-41A8-A4A5-A4254DDB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47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3E3B9-7020-4727-9663-5A148F23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A1D20-9D48-4289-B0E5-AC05D299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047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98BF7-8696-449F-8E51-28FA3EEC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81200"/>
            <a:ext cx="712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INSERIR NO SERVER HTTPS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40DF2-90EF-47EA-8361-4EB26304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78D26-5A15-430D-9F8E-F83F9CE2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7696200" cy="3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location ^~ /media/profile/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F322F-8BB2-4ADF-BE0F-E626822C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5119"/>
            <a:ext cx="7696200" cy="3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limit_except GET { deny all; 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A08E5-68AE-4E02-BDEC-4A4025B5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5163"/>
            <a:ext cx="7696200" cy="3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proxy_pass http://127.0.0.1:9000/lasdpc-media/profile/;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9DDFD-862E-4045-84AE-00639FD6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5206"/>
            <a:ext cx="7696200" cy="3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proxy_set_header Host 127.0.0.1:9000;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2E0E8-E399-43CE-A2C0-171638B1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7696200" cy="3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proxy_set_header X-Real-IP $remote_addr;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6D556-4C42-4283-B0F5-853798ED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5294"/>
            <a:ext cx="7696200" cy="3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proxy_set_header X-Forwarded-For $proxy_add_x_forwarded_for;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CE7F3-4CE8-46A7-935C-843161E0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05338"/>
            <a:ext cx="7696200" cy="3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proxy_set_header X-Forwarded-Proto $scheme;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EE359-ABE8-49A3-99A3-996B370E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5381"/>
            <a:ext cx="7696200" cy="3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9962D-995C-411F-8884-799BE621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574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Teste público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7CA44-9F20-4060-9748-2065DE1A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47950"/>
            <a:ext cx="233362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Use uma imagem de perfil existente no caminho /media/profile/.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A URL do navegador usa o domínio HTTPS, nunca localhost:9000.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6866F-19FB-4B7C-A85C-66921331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sudo nginx -t &amp;&amp; sudo systemctl reload nginx</a:t>
            </a:r>
          </a:p>
        </p:txBody>
      </p:sp>
    </p:spTree>
    <p:extLst>
      <p:ext uri="{BB962C8B-B14F-4D97-AF65-F5344CB8AC3E}">
        <p14:creationId xmlns:p14="http://schemas.microsoft.com/office/powerpoint/2010/main" val="10517677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4FE8F4-EDAF-4356-8740-B56380DB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04  GITHUB ACTIONS  •  PASSO 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59FFD-6D1D-4FAB-A48E-B1A4B32E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Registrar o runner na 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504BB-D6A2-4D99-AACB-9303CAF4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ACBBB-1961-4B4E-94FE-6481FC12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DAA8A-51E1-4690-BFC4-BBD47630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81505-78F1-468B-854B-1290EBBC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1452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defPPr>
            <a:lvl1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1pPr>
            <a:lvl2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2pPr>
            <a:lvl3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3pPr>
            <a:lvl4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4pPr>
            <a:lvl5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5pPr>
            <a:lvl6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6pPr>
            <a:lvl7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7pPr>
            <a:lvl8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8pPr>
            <a:lvl9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05B7B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134BA-4062-4D6F-BFB4-94586C30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14525"/>
            <a:ext cx="963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Abra Actions → Runners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04031-AAAA-4A99-B026-76442B4C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0505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Nas configurações da organização ou do repositório, conceda acesso ao projeto.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1091A-305D-4706-88EF-7D65BE7F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defPPr>
            <a:lvl1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1pPr>
            <a:lvl2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2pPr>
            <a:lvl3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3pPr>
            <a:lvl4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4pPr>
            <a:lvl5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5pPr>
            <a:lvl6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6pPr>
            <a:lvl7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7pPr>
            <a:lvl8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8pPr>
            <a:lvl9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05B7B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3CBC7-43E1-4E99-BFE4-6E392BBA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86075"/>
            <a:ext cx="963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Escolha New self-hosted runner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22683-47DB-4637-AC22-542412B2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7660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Selecione Linux; copie download, versão e token temporário da tela.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F0A38-7806-4001-BD0D-FD7D2A56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defPPr>
            <a:lvl1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1pPr>
            <a:lvl2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2pPr>
            <a:lvl3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3pPr>
            <a:lvl4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4pPr>
            <a:lvl5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5pPr>
            <a:lvl6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6pPr>
            <a:lvl7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7pPr>
            <a:lvl8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8pPr>
            <a:lvl9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5B7B5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05B7B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97648-480F-4C21-9FF0-C83032E9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963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Instale como serviço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FFA11-EBD5-431E-A7CB-01023B8C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48150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No diretório /home/lasdpc/actions-runner, use os comandos gerados.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87821-EE3E-4CC4-B925-5137CD5C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00625"/>
            <a:ext cx="10572750" cy="1019175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568B2-11E7-4E81-8CAE-07D9542D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8DAF8-87C6-4FAF-9D76-C930A293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91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B0EF7-CB72-4377-904C-BCFF435E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91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CF50F-A26C-41E6-B5EA-99E5F0AA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24450"/>
            <a:ext cx="956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DEPOIS DO REGISTRO VIA CONFIG.SH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38F8C-8F0A-4D53-87EE-9B35D9CD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486400"/>
            <a:ext cx="1015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4B220-5530-4F9E-87A2-A7C1C28A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648325"/>
            <a:ext cx="1013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./svc.sh install   &amp;&amp;   sudo ./svc.sh start</a:t>
            </a:r>
          </a:p>
        </p:txBody>
      </p:sp>
    </p:spTree>
    <p:extLst>
      <p:ext uri="{BB962C8B-B14F-4D97-AF65-F5344CB8AC3E}">
        <p14:creationId xmlns:p14="http://schemas.microsoft.com/office/powerpoint/2010/main" val="12501474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B8961-A7B1-4EDD-83F5-953179B6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04  GITHUB ACTIONS  •  PASSO 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F9D5F-E684-48DA-9F91-A1356A96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o push na main executa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3B60B-13E3-411E-80AA-0937A457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B4A2D-EC41-42FE-BD9E-C2F5DBE2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73189-DCD8-442F-9C85-CCF5B738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719C8-29FF-4761-B62A-299254EF13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acbffc6074844"/>
          <a:stretch xmlns:a="http://schemas.openxmlformats.org/drawingml/2006/main"/>
        </p:blipFill>
        <p:spPr>
          <a:xfrm xmlns:a="http://schemas.openxmlformats.org/drawingml/2006/main">
            <a:off x="8124825" y="178117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FBB59-1F20-404F-8540-D3A971BF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20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20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20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20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20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20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20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20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20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02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.github/workflows/main.yml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DCCDD-8BAF-4900-AAA0-7B2F4395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6972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01  checkout do commit</a:t>
            </a:r>
          </a:p>
          <a:p xmlns:a="http://schemas.openxmlformats.org/drawingml/2006/main">
            <a: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02  rsync para /home/lasdpc/lasdpc-site</a:t>
            </a:r>
          </a:p>
          <a:p xmlns:a="http://schemas.openxmlformats.org/drawingml/2006/main">
            <a: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03  docker compose up -d</a:t>
            </a:r>
          </a:p>
          <a:p xmlns:a="http://schemas.openxmlformats.org/drawingml/2006/main">
            <a: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04  npm install + npm run build</a:t>
            </a:r>
          </a:p>
          <a:p xmlns:a="http://schemas.openxmlformats.org/drawingml/2006/main">
            <a:pPr>
              <a:defRPr sz="1725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05  pip install + restart do 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DCFD5-BAFF-42C8-B123-1250C0E6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6477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231BA-C238-430D-9526-0D93DCC5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38800"/>
            <a:ext cx="622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runs-on: self-hosted  •  push: main</a:t>
            </a:r>
          </a:p>
        </p:txBody>
      </p:sp>
    </p:spTree>
    <p:extLst>
      <p:ext uri="{BB962C8B-B14F-4D97-AF65-F5344CB8AC3E}">
        <p14:creationId xmlns:p14="http://schemas.microsoft.com/office/powerpoint/2010/main" val="10014232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48F6E-F0FD-4479-A2A2-A1C52DF4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05  VERIFICAÇÃO  •  PASSO 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EE925-278F-4CD9-90B2-83C6B6D1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Teste completo após o deploy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6C351-F7A7-492A-83AA-CC494FBA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CA1E1-8A33-41A1-9E0F-C79C09A0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42637-9607-42CA-BA0C-234F4A45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77CD9-A019-4897-AC70-FD914245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790575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09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C4B78-864C-422B-9DF7-D59F127D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24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EF897-A7A8-4C64-842A-F5656D8B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BFDD7-2724-4307-86E1-DB06E5B1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24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C3E14-E92C-4135-A265-445E8A22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57400"/>
            <a:ext cx="689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defPPr>
            <a:lvl1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1pPr>
            <a:lvl2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2pPr>
            <a:lvl3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3pPr>
            <a:lvl4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4pPr>
            <a:lvl5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5pPr>
            <a:lvl6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6pPr>
            <a:lvl7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7pPr>
            <a:lvl8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8pPr>
            <a:lvl9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7E9E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7E9EB"/>
                </a:solidFill>
                <a:latin typeface="Menlo"/>
                <a:ea typeface="Menlo"/>
                <a:cs typeface="Menlo"/>
              </a:rPr>
              <a:t>LEITURAS E TESTE DE RENOVAÇÃO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3D0F0-AD0A-46FA-87D4-8AE1B41A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748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AA90D-D4D4-45B1-9F4A-13A1E156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7467600" cy="42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nginx -t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32501-6FDD-4212-9303-4336B60D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3096"/>
            <a:ext cx="7467600" cy="42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 compose 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B578D-7DAA-40D8-BFCA-437453A0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4918"/>
            <a:ext cx="7467600" cy="42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systemctl status lasdpc-backend --no-pager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E3C0C-C343-4675-93C6-395DA589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6739"/>
            <a:ext cx="7467600" cy="42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curl -I https://lasdpc.icmc.usp.br/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25FB9-46D5-4975-9FD9-E550A85D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8561"/>
            <a:ext cx="7467600" cy="42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curl -i https://lasdpc.icmc.usp.br/docs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87337-73F5-41ED-AFA1-2796502B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0382"/>
            <a:ext cx="7467600" cy="42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curl -I https://lasdpc.icmc.usp.br/media/profile/exemplo.png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EB55A-1212-4B12-9C92-C653D70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2204"/>
            <a:ext cx="7467600" cy="42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sudo certbot renew --dry-run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18E69-90F8-49B2-B3E5-1A257DA8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No navegador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0FA14B-64C6-4096-B5E8-EBBED43B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5717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Confira login, edição de conteúdo e imagem de perfil. Troque exemplo.png pelo nome de uma imagem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No GitHub, veja o job e o commit implantado.</a:t>
            </a:r>
          </a:p>
        </p:txBody>
      </p:sp>
    </p:spTree>
    <p:extLst>
      <p:ext uri="{BB962C8B-B14F-4D97-AF65-F5344CB8AC3E}">
        <p14:creationId xmlns:p14="http://schemas.microsoft.com/office/powerpoint/2010/main" val="10185286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6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7C0EE-A089-405B-99FF-E148771A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05  ROTINA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7E0A0-D86E-4579-9974-D22C7F45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Manutenção sem perder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9510D-79EC-4F69-B507-8A74A33F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6A609-7A6D-433F-9F4E-0DF6CA22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C2833-32D1-4A13-8A39-0050ECCA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E9E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8506E-8A00-41C0-A992-E07F548D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defPPr>
            <a:lvl1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1pPr>
            <a:lvl2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2pPr>
            <a:lvl3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3pPr>
            <a:lvl4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4pPr>
            <a:lvl5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5pPr>
            <a:lvl6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6pPr>
            <a:lvl7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7pPr>
            <a:lvl8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8pPr>
            <a:lvl9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61D8E9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BECF1-2D2A-4966-8C5C-E702FE05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24050"/>
            <a:ext cx="963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 cada deploy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57455-2231-47C6-8092-6DB616DF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14575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Verifique Actions, Nginx, backend e URL pública da imagem.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A0E26-A808-4918-8551-AAFF4618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670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defPPr>
            <a:lvl1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1pPr>
            <a:lvl2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2pPr>
            <a:lvl3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3pPr>
            <a:lvl4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4pPr>
            <a:lvl5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5pPr>
            <a:lvl6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6pPr>
            <a:lvl7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7pPr>
            <a:lvl8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8pPr>
            <a:lvl9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61D8E9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376E1-4FEF-4323-B03C-D0FB19D1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67050"/>
            <a:ext cx="963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Periodicamente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2B681-9396-4CDB-8CA7-3CDE77DA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57575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Confira renovação, espaço, logs e backups com restauração testada.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AC880-0210-412B-A7B5-F933D88C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100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defPPr>
            <a:lvl1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1pPr>
            <a:lvl2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2pPr>
            <a:lvl3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3pPr>
            <a:lvl4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4pPr>
            <a:lvl5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5pPr>
            <a:lvl6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6pPr>
            <a:lvl7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7pPr>
            <a:lvl8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8pPr>
            <a:lvl9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1D8E9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61D8E9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1D31D-D00A-4159-84A0-1FCAF46B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10050"/>
            <a:ext cx="963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 incidente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141BC-452E-4472-818C-D3E0B23B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00575"/>
            <a:ext cx="9639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7E9E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E9EB"/>
                </a:solidFill>
                <a:latin typeface="Arial"/>
                <a:ea typeface="Arial"/>
                <a:cs typeface="Arial"/>
              </a:rPr>
              <a:t>Isole DNS/TLS → Nginx → FastAPI → MongoDB/MinIO.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1EEF1-5FCE-4B09-ACF2-EAA30FBC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1D8E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D8E9"/>
                </a:solidFill>
                <a:latin typeface="Arial"/>
                <a:ea typeface="Arial"/>
                <a:cs typeface="Arial"/>
              </a:rPr>
              <a:t>Nunca rode scripts de reset nem apague volumes como etapa de diagnóstico.</a:t>
            </a:r>
          </a:p>
        </p:txBody>
      </p:sp>
    </p:spTree>
    <p:extLst>
      <p:ext uri="{BB962C8B-B14F-4D97-AF65-F5344CB8AC3E}">
        <p14:creationId xmlns:p14="http://schemas.microsoft.com/office/powerpoint/2010/main" val="80500360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725A6-347E-4619-A952-2A642BA1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05  REFERÊNCIAS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05528-7227-4F6F-803B-54B8EF4A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De onde vêm os comandos e o estado atual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C5150-EB79-44B5-A0DE-BEEC4BF0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6489B-F682-40FB-9D26-DC460B70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LASDPC  /  GUIA DE CONFIGURAÇÃO E MANUTENÇÃO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035FE-B4C4-46EA-8E88-75B1CB5D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6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C728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1E1C4-3F00-405D-80BB-3DC6D3CF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Estado observado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3DA1F-B9C3-43CF-967E-B57D041F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1009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Inventário da VM fornecido pelo usuário; repositório local; workflow .github/workflows/main.yml. Algumas capturas são de 21/10/2026 e precisam ser reconfirmadas.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B6B58-9AC4-4FA9-808E-2DA94E84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99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Procedimentos do zero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1B8AB-6121-4BEC-AA22-8B398188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Certbot: certbot.eff.org/instructions</a:t>
            </a:r>
          </a:p>
          <a:p xmlns:a="http://schemas.openxmlformats.org/drawingml/2006/main">
            <a: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Let’s Encrypt: letsencrypt.org/docs/challenge-types</a:t>
            </a:r>
          </a:p>
          <a:p xmlns:a="http://schemas.openxmlformats.org/drawingml/2006/main">
            <a:pPr>
              <a:defRPr sz="1500" b="0">
                <a:solidFill>
                  <a:srgbClr val="5C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7280"/>
                </a:solidFill>
                <a:latin typeface="Arial"/>
                <a:ea typeface="Arial"/>
                <a:cs typeface="Arial"/>
              </a:rPr>
              <a:t>Runner: docs.github.com/en/actions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A5A5F-756C-46EA-A2D2-687BB788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5B7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B7B5"/>
                </a:solidFill>
                <a:latin typeface="Arial"/>
                <a:ea typeface="Arial"/>
                <a:cs typeface="Arial"/>
              </a:rPr>
              <a:t>Antes de alterar a VM atual, compare os arquivos reais com os modelos deste tutorial.</a:t>
            </a:r>
          </a:p>
        </p:txBody>
      </p:sp>
    </p:spTree>
    <p:extLst>
      <p:ext uri="{BB962C8B-B14F-4D97-AF65-F5344CB8AC3E}">
        <p14:creationId xmlns:p14="http://schemas.microsoft.com/office/powerpoint/2010/main" val="1884043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2026-10-26T15:23:55.0530000Z</dcterms:created>
  <dcterms:modified xsi:type="dcterms:W3CDTF">2026-10-26T15:23:55.0530000Z</dcterms:modified>
</coreProperties>
</file>