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7dea70b6eb456a" /><Relationship Type="http://schemas.openxmlformats.org/officeDocument/2006/relationships/extended-properties" Target="/docProps/app.xml" Id="Rc184de65ac974dd6" /><Relationship Type="http://schemas.openxmlformats.org/officeDocument/2006/relationships/officeDocument" Target="/ppt/presentation.xml" Id="Rb6d7fe5e2b2b49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fe822a79e947da"/>
  </p:sldMasterIdLst>
  <p:notesMasterIdLst>
    <p:notesMasterId xmlns:r="http://schemas.openxmlformats.org/officeDocument/2006/relationships" r:id="Rc1db2f2a8e484d3d"/>
  </p:notesMasterIdLst>
  <p:sldIdLst>
    <p:sldId xmlns:r="http://schemas.openxmlformats.org/officeDocument/2006/relationships" id="256" r:id="R394b9e7e2bdc4a71"/>
    <p:sldId xmlns:r="http://schemas.openxmlformats.org/officeDocument/2006/relationships" id="257" r:id="Rb305d9f98b474514"/>
    <p:sldId xmlns:r="http://schemas.openxmlformats.org/officeDocument/2006/relationships" id="258" r:id="Rd5874f808f744c0f"/>
    <p:sldId xmlns:r="http://schemas.openxmlformats.org/officeDocument/2006/relationships" id="259" r:id="Ra583970c10f1458a"/>
    <p:sldId xmlns:r="http://schemas.openxmlformats.org/officeDocument/2006/relationships" id="260" r:id="Rcbbbbe4717864326"/>
    <p:sldId xmlns:r="http://schemas.openxmlformats.org/officeDocument/2006/relationships" id="261" r:id="R7ad9d7b032fc4845"/>
    <p:sldId xmlns:r="http://schemas.openxmlformats.org/officeDocument/2006/relationships" id="262" r:id="Ra60a4dd29edc41f0"/>
    <p:sldId xmlns:r="http://schemas.openxmlformats.org/officeDocument/2006/relationships" id="263" r:id="R69a2b310afed4918"/>
    <p:sldId xmlns:r="http://schemas.openxmlformats.org/officeDocument/2006/relationships" id="264" r:id="R5dc470ee607a419e"/>
    <p:sldId xmlns:r="http://schemas.openxmlformats.org/officeDocument/2006/relationships" id="265" r:id="R0a5df813389b4d90"/>
    <p:sldId xmlns:r="http://schemas.openxmlformats.org/officeDocument/2006/relationships" id="266" r:id="R2dae379ee18c483e"/>
    <p:sldId xmlns:r="http://schemas.openxmlformats.org/officeDocument/2006/relationships" id="267" r:id="R243be17bcad346b0"/>
    <p:sldId xmlns:r="http://schemas.openxmlformats.org/officeDocument/2006/relationships" id="268" r:id="Rba1ea9f489d54d05"/>
    <p:sldId xmlns:r="http://schemas.openxmlformats.org/officeDocument/2006/relationships" id="269" r:id="R304605407e15469d"/>
    <p:sldId xmlns:r="http://schemas.openxmlformats.org/officeDocument/2006/relationships" id="270" r:id="R2439a52511fb44e4"/>
    <p:sldId xmlns:r="http://schemas.openxmlformats.org/officeDocument/2006/relationships" id="271" r:id="R1921772ba59740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b2551e24194f28" /><Relationship Type="http://schemas.openxmlformats.org/officeDocument/2006/relationships/slideMaster" Target="/ppt/slideMasters/slideMaster1.xml" Id="Rf7fe822a79e947da" /><Relationship Type="http://schemas.openxmlformats.org/officeDocument/2006/relationships/notesMaster" Target="/ppt/notesMasters/notesMaster1.xml" Id="Rc1db2f2a8e484d3d" /><Relationship Type="http://schemas.openxmlformats.org/officeDocument/2006/relationships/presProps" Target="/ppt/presProps.xml" Id="R2ba0a7be762c42e9" /><Relationship Type="http://schemas.openxmlformats.org/officeDocument/2006/relationships/tableStyles" Target="/ppt/tableStyles.xml" Id="R60dc126e8e4c4a30" /><Relationship Type="http://schemas.openxmlformats.org/officeDocument/2006/relationships/slide" Target="/ppt/slides/slide1.xml" Id="R394b9e7e2bdc4a71" /><Relationship Type="http://schemas.openxmlformats.org/officeDocument/2006/relationships/slide" Target="/ppt/slides/slide2.xml" Id="Rb305d9f98b474514" /><Relationship Type="http://schemas.openxmlformats.org/officeDocument/2006/relationships/slide" Target="/ppt/slides/slide3.xml" Id="Rd5874f808f744c0f" /><Relationship Type="http://schemas.openxmlformats.org/officeDocument/2006/relationships/slide" Target="/ppt/slides/slide4.xml" Id="Ra583970c10f1458a" /><Relationship Type="http://schemas.openxmlformats.org/officeDocument/2006/relationships/slide" Target="/ppt/slides/slide5.xml" Id="Rcbbbbe4717864326" /><Relationship Type="http://schemas.openxmlformats.org/officeDocument/2006/relationships/slide" Target="/ppt/slides/slide6.xml" Id="R7ad9d7b032fc4845" /><Relationship Type="http://schemas.openxmlformats.org/officeDocument/2006/relationships/slide" Target="/ppt/slides/slide7.xml" Id="Ra60a4dd29edc41f0" /><Relationship Type="http://schemas.openxmlformats.org/officeDocument/2006/relationships/slide" Target="/ppt/slides/slide8.xml" Id="R69a2b310afed4918" /><Relationship Type="http://schemas.openxmlformats.org/officeDocument/2006/relationships/slide" Target="/ppt/slides/slide9.xml" Id="R5dc470ee607a419e" /><Relationship Type="http://schemas.openxmlformats.org/officeDocument/2006/relationships/slide" Target="/ppt/slides/slide10.xml" Id="R0a5df813389b4d90" /><Relationship Type="http://schemas.openxmlformats.org/officeDocument/2006/relationships/slide" Target="/ppt/slides/slide11.xml" Id="R2dae379ee18c483e" /><Relationship Type="http://schemas.openxmlformats.org/officeDocument/2006/relationships/slide" Target="/ppt/slides/slide12.xml" Id="R243be17bcad346b0" /><Relationship Type="http://schemas.openxmlformats.org/officeDocument/2006/relationships/slide" Target="/ppt/slides/slide13.xml" Id="Rba1ea9f489d54d05" /><Relationship Type="http://schemas.openxmlformats.org/officeDocument/2006/relationships/slide" Target="/ppt/slides/slide14.xml" Id="R304605407e15469d" /><Relationship Type="http://schemas.openxmlformats.org/officeDocument/2006/relationships/slide" Target="/ppt/slides/slide15.xml" Id="R2439a52511fb44e4" /><Relationship Type="http://schemas.openxmlformats.org/officeDocument/2006/relationships/slide" Target="/ppt/slides/slide16.xml" Id="R1921772ba59740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2c205d73c64c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be305785a345d7" /><Relationship Type="http://schemas.openxmlformats.org/officeDocument/2006/relationships/notesMaster" Target="/ppt/notesMasters/notesMaster1.xml" Id="Rc83b18e80c174e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7171869a504f1f" /><Relationship Type="http://schemas.openxmlformats.org/officeDocument/2006/relationships/notesMaster" Target="/ppt/notesMasters/notesMaster1.xml" Id="R4fed0f49d26849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c86b95c1ca42f5" /><Relationship Type="http://schemas.openxmlformats.org/officeDocument/2006/relationships/notesMaster" Target="/ppt/notesMasters/notesMaster1.xml" Id="R6bf15a8a16e041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71f6b1336f47e0" /><Relationship Type="http://schemas.openxmlformats.org/officeDocument/2006/relationships/notesMaster" Target="/ppt/notesMasters/notesMaster1.xml" Id="Reb888b7d1d564f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ada1dbadb24e92" /><Relationship Type="http://schemas.openxmlformats.org/officeDocument/2006/relationships/notesMaster" Target="/ppt/notesMasters/notesMaster1.xml" Id="R0b286cfb04154f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4998aa17b441ed" /><Relationship Type="http://schemas.openxmlformats.org/officeDocument/2006/relationships/notesMaster" Target="/ppt/notesMasters/notesMaster1.xml" Id="Rf225fdb3f41043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5faa3d08ac4f17" /><Relationship Type="http://schemas.openxmlformats.org/officeDocument/2006/relationships/notesMaster" Target="/ppt/notesMasters/notesMaster1.xml" Id="R31eaca42eb2b41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8b36c13dfb4287" /><Relationship Type="http://schemas.openxmlformats.org/officeDocument/2006/relationships/notesMaster" Target="/ppt/notesMasters/notesMaster1.xml" Id="Rffa2aa5c7e9c4f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567fcb90c54ea4" /><Relationship Type="http://schemas.openxmlformats.org/officeDocument/2006/relationships/notesMaster" Target="/ppt/notesMasters/notesMaster1.xml" Id="R57638edc82c749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0a2a3d2076442f" /><Relationship Type="http://schemas.openxmlformats.org/officeDocument/2006/relationships/notesMaster" Target="/ppt/notesMasters/notesMaster1.xml" Id="Rf87c97c3f8924a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7a7c5606864048" /><Relationship Type="http://schemas.openxmlformats.org/officeDocument/2006/relationships/notesMaster" Target="/ppt/notesMasters/notesMaster1.xml" Id="Reca1102b8d6d48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1785d160a44525" /><Relationship Type="http://schemas.openxmlformats.org/officeDocument/2006/relationships/notesMaster" Target="/ppt/notesMasters/notesMaster1.xml" Id="Rf8a89ffcf2704f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5ae9828f1549dd" /><Relationship Type="http://schemas.openxmlformats.org/officeDocument/2006/relationships/notesMaster" Target="/ppt/notesMasters/notesMaster1.xml" Id="Rcdd7175d550248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9839d15c4e4fd0" /><Relationship Type="http://schemas.openxmlformats.org/officeDocument/2006/relationships/notesMaster" Target="/ppt/notesMasters/notesMaster1.xml" Id="Rd447557c7aaf41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87e8b9ef7647ca" /><Relationship Type="http://schemas.openxmlformats.org/officeDocument/2006/relationships/notesMaster" Target="/ppt/notesMasters/notesMaster1.xml" Id="R3c5c79f5347144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6d1a7909ec47d7" /><Relationship Type="http://schemas.openxmlformats.org/officeDocument/2006/relationships/notesMaster" Target="/ppt/notesMasters/notesMaster1.xml" Id="R730ebc0206164b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material ensina um processo reproduzível. O inventário anexo registra observações históricas e não prova que todos os arquivos atuais da VM sejam idênticos. A confirmação final deve ser feita na própria VM.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observada no inventário: Nginx no host; FastAPI/Uvicorn em loopback; MongoDB e MinIO no Docker. O runner self-hosted executa o workflow na VM. O desenho simplifica serviços auxiliares.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/Users/luiz.costa/Documents/GitHub/lasdpc-site/docker-compose.yml | /Users/luiz.costa/Documents/GitHub/lasdpc-site/backend/main.py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comando SSH e a porta 2291 foram fornecidos pelo usuário. O inventário confirma usuário lasdpc, host lasdpc-web, Nginx em 80/443 e Uvicorn/MinIO em loopback em observações anteriores. Não inferir regras atuais do firewall.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/Users/luiz.costa/Downloads/lasdpc_vm_configuracao_atual.md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um roteiro de reconstrução, não a transcrição da instalação histórica. Instale Docker Engine e Compose seguindo o guia oficial adequado à versão do Ubuntu; não execute remoção de pacotes ou migração em uma VM já em produção. Verifique a versão suportada de Node antes do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https://docs.docker.com/engine/install/ubuntu/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remote origin local é https://github.com/LASDPC/lasdpc-site.git. O inventário confirma /home/lasdpc/lasdpc-site e /home/lasdpc/actions-runner. Em máquina existente, não clone por cima da pasta; audite primeiro permissões, mudanças locais e estado do deploy.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https://github.com/LASDPC/lasdpc-site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compose versionado usa mongo:7 e um container MinIO, com volumes mongo_data/minio_data. O minio-init cria o bucket e configura download anônimo no bucket atual. Em produção, revisar permissões antes de armazenar material privado. O comando docker compose up -d pertence ao workflow; pode recriar containers se a configuração mudar. Não remover volumes.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/Users/luiz.costa/Documents/GitHub/lasdpc-site/docker-compose.yml | https://docs.docker.com/engine/install/ubuntu/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processo observado executava /home/lasdpc/lasdpc-site/backend/venv/bin/uvicorn main:app --host 127.0.0.1 --port 8000. A unit atual não foi coletada integralmente; antes de reproduzir, use sudo systemctl cat lasdpc-backend.service. Um modelo de unit precisa de User=lasdpc, WorkingDirectory=/home/lasdpc/lasdpc-site/backend, ExecStart apontando ao venv e política Restart apropriada. Não presumir EnvironmentFile exato. Para mudanças na unit: sudo systemctl daemon-reload; para novas variáveis do app: restart do serviço.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/Users/luiz.costa/Documents/GitHub/lasdpc-site/backend/main.py | /Users/luiz.costa/Documents/GitHub/lasdpc-site/backend/requirements.txt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.env do frontend é preservado pelo rsync do workflow. O código atual usa VITE_API_URL vazio para a mesma origem HTTPS e VITE_MINIO_PUBLIC_URL como prefixo público sem o nome do bucket. Não colocar credenciais MinIO em VITE_*. O build roda no host self-hosted.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/Users/luiz.costa/Documents/GitHub/lasdpc-site/frontend/src/lib/api.ts | /Users/luiz.costa/Documents/GitHub/lasdpc-site/frontend/src/lib/media.ts | /Users/luiz.costa/Documents/GitHub/lasdpc-site/frontend/.env.example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arquivo histórico /etc/nginx/sites-enabled/lasdpc tinha SPA, /api/, /docs e /openapi.json. O bloco /media/profile/ foi relatado após a correção, mas a cópia final de nginx -T não foi coletada. O trecho no slide é intencionalmente abreviado e não deve substituir um server block completo. Veja docs/media-deployment.md para rotas adicionais restritas. Não expor /media/ inteiro nem material privado.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/Users/luiz.costa/Documents/GitHub/lasdpc-site/docs/media-deployment.md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inventário confirma certificado Let’s Encrypt ECDSA, certbot.timer ativo e dry-run bem sucedido em 21/10/2026. O comando original de emissão não foi recuperado; sudo certbot --nginx -d lasdpc.icmc.usp.br é um roteiro compatível, não uma transcrição histórica. Para VM nova, seguir instruções oficiais de instalação do Certbot; não substituir a instalação atual sem verificar pacote, timer e arquivo de renovação. Antes da emissão, DNS e HTTP :80 precisam funcionar. Os arquivos TLS ficam em /etc/letsencrypt/live/lasdpc.icmc.usp.br/.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https://certbot.eff.org/instructions?os=snap&amp;ws=nginx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caminho e nome do serviço constam do inventário. Abra https://github.com/LASDPC/lasdpc-site em Settings &gt; Actions &gt; Runners e copie os comandos oficiais exibidos, inclusive download, versão atual, URL e token temporário de registro. Após registrar, o svc.sh instala e gerencia o serviço systemd. Definir permissões Docker e sudo do runner com escopo mínimo; detalhes atuais não foram coletados.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https://docs.github.com/en/actions/how-tos/manage-runners/self-hosted-runners/add-runners | https://docs.github.com/en/actions/how-tos/manage-runners/self-hosted-runners/configure-the-application?platform=linux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workflow versionado está em .github/workflows/main.yml: push em main, runs-on self-hosted, checkout, rsync -av --delete, compose, build, dependências Python e restart via sudo. O rsync preserva backend/.env, frontend/.env, backend/venv e frontend/node_modules. A validação Node bloqueia VITE_MINIO_PUBLIC_URL HTTP ou com bucket e VITE_API_URL HTTP. O workflow não mostra rollback, pós-deploy health check ou backup. Conferir SHA e status na aba Actions antes de considerar o deploy concluído.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frontend recebe arquivo, envia a FastAPI, que grava no MinIO e retorna {key}; MongoDB guarda a referência. A URL pública usa /media e Nginx faz proxy restrito. O código atual trata chaves relativas, prefixo duplicado de bucket e URLs legadas localhost somente de perfil sem assinatura. Não usar endereços internos do MinIO como src do navegador. Outros tipos públicos exigem rotas Nginx explícitas; imagens de Docs não devem ser expostas por uma rota genérica.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/Users/luiz.costa/Documents/GitHub/lasdpc-site/frontend/src/lib/media.ts | /Users/luiz.costa/Documents/GitHub/lasdpc-site/backend/core/storage.py | /Users/luiz.costa/Documents/GitHub/lasdpc-site/docs/media-deployment.md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Substitua FILE pelo nome de uma imagem de perfil que exista no bucket. Verifique também a página principal com curl -I "$SITE". Comandos adicionais: sudo certbot renew --dry-run; curl http://127.0.0.1:9000/minio/health/live; sudo journalctl -u lasdpc-backend.service -n 100 --no-pager. Uma resposta 200 não substitui verificação de fluxos de login, edição e imagens. Nenhum teste ao vivo na VM foi feito para este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Atenção: reset-e-popular.sh e scripts reset_and_populate limpam banco e bucket; não pertencem a uma rotina de manutenção. O inventário relata erros intermitentes de armazenamento MinIO no passado, sem comprovação de resolução definitiva. Não apagar volumes/objetos para resolver URL de navegador. A porta MongoDB 27018 foi observada com bind em todas as interfaces; revisar firewall e exposição real. Não imprimir ou commitar .env, JWT ou credenciais.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/Users/luiz.costa/Documents/GitHub/lasdpc-site/backend/scripts/reset_and_populate.py | /Users/luiz.costa/Documents/GitHub/lasdpc-site/docker-compose.yml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checklist é roteiro de reconstrução. O inventário tem lacunas: versão exata do Ubuntu, conteúdo atual completo da unit systemd e do Nginx, valores reais de .env, regras de firewall, política de backup e estado mais recente do runner. Confirme-os na VM antes de executar mudanças. Fonte principal: inventário fornecido pelo usuário em 26/10/2026.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0d355d94d4f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8d4325a0b48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f710c1cdc4d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3d1b4f21747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27230b63714c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a44e0ccb847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7228FE-DDAA-4E3D-820E-439CF387D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9C5EAB-DB55-4E8C-BC47-8416B90631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99B9C1-C8B8-420F-A23E-40CD449F95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43D5AB-BE35-4982-B183-56F760951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D27938-FF90-47CB-B36A-5FF3A54941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578073-862A-4A6A-BF72-3A84AA1BD2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36BAC6-CA2C-44DC-8902-ED9C496953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301383-D244-4BC8-A8BB-3B895AC8D9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13C5C6-A757-4BA8-AF2B-009FA80AE5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AD20D3-5E8D-4CE6-B311-F889A9843C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7f3a306794b88" /><Relationship Type="http://schemas.openxmlformats.org/officeDocument/2006/relationships/slideLayout" Target="/ppt/slideLayouts/slideLayout1.xml" Id="Rb66f61c28bfb417e" /><Relationship Type="http://schemas.openxmlformats.org/officeDocument/2006/relationships/slideLayout" Target="/ppt/slideLayouts/slideLayout2.xml" Id="R444383e6de73475d" /><Relationship Type="http://schemas.openxmlformats.org/officeDocument/2006/relationships/slideLayout" Target="/ppt/slideLayouts/slideLayout3.xml" Id="Rcec1e18b9ef84be4" /><Relationship Type="http://schemas.openxmlformats.org/officeDocument/2006/relationships/slideLayout" Target="/ppt/slideLayouts/slideLayout4.xml" Id="R4c2af747c94b4f62" /><Relationship Type="http://schemas.openxmlformats.org/officeDocument/2006/relationships/slideLayout" Target="/ppt/slideLayouts/slideLayout5.xml" Id="R9d2181a02d694d43" /><Relationship Type="http://schemas.openxmlformats.org/officeDocument/2006/relationships/slideLayout" Target="/ppt/slideLayouts/slideLayout6.xml" Id="R2664c61c094341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6f61c28bfb417e"/>
    <p:sldLayoutId xmlns:r="http://schemas.openxmlformats.org/officeDocument/2006/relationships" id="2147483650" r:id="R444383e6de73475d"/>
    <p:sldLayoutId xmlns:r="http://schemas.openxmlformats.org/officeDocument/2006/relationships" id="2147483651" r:id="Rcec1e18b9ef84be4"/>
    <p:sldLayoutId xmlns:r="http://schemas.openxmlformats.org/officeDocument/2006/relationships" id="2147483652" r:id="R4c2af747c94b4f62"/>
    <p:sldLayoutId xmlns:r="http://schemas.openxmlformats.org/officeDocument/2006/relationships" id="2147483653" r:id="R9d2181a02d694d43"/>
    <p:sldLayoutId xmlns:r="http://schemas.openxmlformats.org/officeDocument/2006/relationships" id="2147483654" r:id="R2664c61c094341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ee9bb5377c443b" /><Relationship Type="http://schemas.openxmlformats.org/officeDocument/2006/relationships/image" Target="/ppt/media/image.png" Id="R7ac092ff9b3a4648" /><Relationship Type="http://schemas.openxmlformats.org/officeDocument/2006/relationships/notesSlide" Target="/ppt/notesSlides/notesSlide1.xml" Id="R503cb29bca6f48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d3368c9114855" /><Relationship Type="http://schemas.openxmlformats.org/officeDocument/2006/relationships/notesSlide" Target="/ppt/notesSlides/notesSlide2.xml" Id="Rb319c0fe590e41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72e05d24ca494c" /><Relationship Type="http://schemas.openxmlformats.org/officeDocument/2006/relationships/notesSlide" Target="/ppt/notesSlides/notesSlide3.xml" Id="R2d9f5dafb13f43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d8ce7c09a4326" /><Relationship Type="http://schemas.openxmlformats.org/officeDocument/2006/relationships/notesSlide" Target="/ppt/notesSlides/notesSlide4.xml" Id="Rcb4b27162f7c4f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1c0ac31a94353" /><Relationship Type="http://schemas.openxmlformats.org/officeDocument/2006/relationships/notesSlide" Target="/ppt/notesSlides/notesSlide5.xml" Id="R893e68eeb5ec45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b6764e8ea41d7" /><Relationship Type="http://schemas.openxmlformats.org/officeDocument/2006/relationships/notesSlide" Target="/ppt/notesSlides/notesSlide6.xml" Id="R772d9c19f9cc48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57e1791024e9e" /><Relationship Type="http://schemas.openxmlformats.org/officeDocument/2006/relationships/notesSlide" Target="/ppt/notesSlides/notesSlide7.xml" Id="R5ff570aeaa5643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6ae4cab80480f" /><Relationship Type="http://schemas.openxmlformats.org/officeDocument/2006/relationships/notesSlide" Target="/ppt/notesSlides/notesSlide8.xml" Id="R261be20275284f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23199bfae4119" /><Relationship Type="http://schemas.openxmlformats.org/officeDocument/2006/relationships/notesSlide" Target="/ppt/notesSlides/notesSlide9.xml" Id="Rdea33f5eda6248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7cd9f05914d49" /><Relationship Type="http://schemas.openxmlformats.org/officeDocument/2006/relationships/image" Target="/ppt/media/image2.png" Id="R4ee86e1ca1404e3e" /><Relationship Type="http://schemas.openxmlformats.org/officeDocument/2006/relationships/notesSlide" Target="/ppt/notesSlides/notesSlide10.xml" Id="R2700d2b0d3a143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7b551c55a426f" /><Relationship Type="http://schemas.openxmlformats.org/officeDocument/2006/relationships/notesSlide" Target="/ppt/notesSlides/notesSlide11.xml" Id="R86c4913fd49541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096f22a84449d" /><Relationship Type="http://schemas.openxmlformats.org/officeDocument/2006/relationships/image" Target="/ppt/media/image3.png" Id="R38af63ed1f294e21" /><Relationship Type="http://schemas.openxmlformats.org/officeDocument/2006/relationships/notesSlide" Target="/ppt/notesSlides/notesSlide12.xml" Id="R6786159e705f44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4dd64a3604375" /><Relationship Type="http://schemas.openxmlformats.org/officeDocument/2006/relationships/notesSlide" Target="/ppt/notesSlides/notesSlide13.xml" Id="R22aaff1e73514f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483c91e0c491a" /><Relationship Type="http://schemas.openxmlformats.org/officeDocument/2006/relationships/notesSlide" Target="/ppt/notesSlides/notesSlide14.xml" Id="Re5729bab68a14e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c5f8dd63f46ab" /><Relationship Type="http://schemas.openxmlformats.org/officeDocument/2006/relationships/notesSlide" Target="/ppt/notesSlides/notesSlide15.xml" Id="Ra5befb9632ab4a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024d5221249c1" /><Relationship Type="http://schemas.openxmlformats.org/officeDocument/2006/relationships/notesSlide" Target="/ppt/notesSlides/notesSlide16.xml" Id="Re7eae46135c547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DADEE-40DE-41F4-B19D-55AF9AD73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092ff9b3a464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12BB5-38B3-40D9-9E17-B8F1C4C6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LASDPC  •  OPERAÇÃO E MANUTENÇÃO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9E04E-1174-427B-9A22-FE83B7AD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configurar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site na VM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6BCBA-E36B-4D7E-9699-5D8BD9F0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SSH, Docker, FastAPI, Nginx,</a:t>
            </a:r>
          </a:p>
          <a:p xmlns:a="http://schemas.openxmlformats.org/drawingml/2006/main">
            <a:pPr>
              <a:defRPr sz="18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Certbot e GitHub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567DD-6A3D-4636-A8D9-88C9B336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Guia de reconstrução  •  26 outubro 2026</a:t>
            </a:r>
          </a:p>
        </p:txBody>
      </p:sp>
    </p:spTree>
    <p:extLst>
      <p:ext uri="{BB962C8B-B14F-4D97-AF65-F5344CB8AC3E}">
        <p14:creationId xmlns:p14="http://schemas.microsoft.com/office/powerpoint/2010/main" val="505168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05AB0A-2EF7-417D-895B-900DE71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01  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499E3-730D-4790-9759-2EFADA3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Arquitetura em uma página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C1486-DDD5-469F-8A02-78C9395A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10F9B-4D07-456F-944B-C19911B8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0A215-F9AF-4867-9179-638F1C5E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70976-9C0A-4954-A41D-B7DC326B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FEF11-69AF-4D7F-A723-8CF1ABD5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DNS + HTTPS :443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536B4-4805-4E54-AFB1-6615ACD8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431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3B04A-B61D-4C75-874E-B8C0AE4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96789-BFF3-4B40-A49F-4CA387E2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SPA + 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E6C7E-47B4-46E1-B57F-CA99DB3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431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E5B58-A0C4-4704-9272-6FBB9FF6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11833-2DCD-481B-99DF-43DDD49B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127.0.0.1:8000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49FEF-51B9-430C-88FD-5957A0F3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CC74C-8FFD-4CBA-BDFF-FE870A31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F32FE-B643-4915-A4A0-7FFB0691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MongoDB + MinIO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EEBDF-8451-4FF6-A726-292C17F3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E48F7-A9D9-49B6-9779-E468AED6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Fluxo de arquivos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F289C-D62D-4681-9841-78AEA49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Nginx serve frontend/dist; /api vai ao Uvicorn; /media/profile/ vai ao MinIO por proxy HTTPS.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CA25B-2D68-4B5C-A153-6BCC6736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68F78-E2B8-445B-9314-2D5316F3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HTTP local  ≠  URL pública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1E380-DB63-4DBF-92B6-7E02ADC8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86400"/>
            <a:ext cx="22383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ED09A-1953-4A79-BB20-EA5E14D3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6260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TLS termina no Nginx</a:t>
            </a:r>
          </a:p>
        </p:txBody>
      </p:sp>
    </p:spTree>
    <p:extLst>
      <p:ext uri="{BB962C8B-B14F-4D97-AF65-F5344CB8AC3E}">
        <p14:creationId xmlns:p14="http://schemas.microsoft.com/office/powerpoint/2010/main" val="2001251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3E6E9-6531-462B-B081-032F26A8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02  ACESSO À 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D3162-1C0E-4779-B754-6E0E212F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Entrar e conferir o host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985F0-57BA-41E8-B907-4FE71A90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ED792-91AA-42B9-9290-D45640E5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EAED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B5F40-D89E-4FD9-B846-DCCC2089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EAE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5836A-CC16-4F8C-8D78-C472C0AF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7239000" cy="3171825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9CDF2-226A-4EB2-AF27-EBF915E2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971C9-BD33-425D-8497-DCE64C72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76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FC863-7449-425A-8A1F-B3C57CAA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0DCE5-BE6F-433D-AAED-6DCBA3B4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9775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defPPr>
            <a:lvl1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1pPr>
            <a:lvl2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2pPr>
            <a:lvl3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3pPr>
            <a:lvl4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4pPr>
            <a:lvl5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5pPr>
            <a:lvl6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6pPr>
            <a:lvl7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7pPr>
            <a:lvl8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8pPr>
            <a:lvl9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D9EAED"/>
                </a:solidFill>
                <a:latin typeface="Menlo"/>
                <a:ea typeface="Menlo"/>
                <a:cs typeface="Menlo"/>
              </a:rPr>
              <a:t>LOCAL → LASDPC-WEB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9B670-BF4A-464C-A652-FCB59FD5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680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00429-C46F-4147-A9C5-BCBAB472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ssh lasdpc@lasdpc.icmc.usp.br -p 2291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38325-2233-4804-BCC8-CAFC8F3C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hostnamectl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A5B69-BB62-4B99-88C6-80C7D951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cat /etc/os-release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0B03D-7FCD-4065-B85E-D85A7E13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ss -tlnp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81FF0-2E8C-44E4-9D6E-9A7177E8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955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df -hT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EE75A-82F9-40FF-94B2-74B7C738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D6976-AD9F-46FE-BD66-B5A6625D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Acesso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79D12-6397-44AD-A9AC-15FEA4C6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6697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Conta lasdpc por SSH na porta 2291.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0DF9A-46A5-493B-AD8F-98A96897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714C1-69EA-44B4-A74D-3B71223F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207EB-ADE8-4567-B0F2-18C337A9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528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Confirme Ubuntu, portas e espaço antes de alterar serviços.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954A6-9180-4F25-816E-6460F79D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Na VM atual, 80/443 atendem a web; 8000 e 9000 ficam no loopback.</a:t>
            </a:r>
          </a:p>
        </p:txBody>
      </p:sp>
    </p:spTree>
    <p:extLst>
      <p:ext uri="{BB962C8B-B14F-4D97-AF65-F5344CB8AC3E}">
        <p14:creationId xmlns:p14="http://schemas.microsoft.com/office/powerpoint/2010/main" val="1069171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E2F66-6139-4E1A-B177-C6D9C346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03  DEPENDÊNCIAS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C5435-EBDB-4F83-9854-C80F8C43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Preparar uma VM nova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AD0A2-8647-4A62-8AA3-408DC1BE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27D50-2EE1-4F73-95BD-6E0BC01D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BB92C-3762-4F0C-938B-8ACD4D7A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CD9D4-EFC4-4B0A-B131-EB9F223F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AE091-B742-44C3-8168-D2C451BD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1E79F-570D-42A5-942C-F365B299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241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Git, Nginx, Python 3 + venv, Node.js e npm.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FCA91-1C5A-4819-BB74-47ED332C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74817-60D2-4BEE-8A02-09680117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Containers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0A094-9EC0-4945-B8AB-3B7EDF29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57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Docker Engine + Compose plugin do repositório oficial Docker.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59F0F-BEDC-4CFC-B210-84900749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C4D9F-36EA-46F5-B891-0B472611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962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DNS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A0589-F4CC-425A-86B9-7C775242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911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lasdpc.icmc.usp.br deve resolver para a VM antes do Certbot.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2847F-3190-4530-8C36-064E5729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5238750" cy="3171825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0ACE4-348B-437D-AD56-E8218229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0864C-0838-4F2E-868B-BA207FC4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2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6143F-24E6-4E70-BCB2-6C8294A7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2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F06D7-4FBD-41B2-9038-F78281FC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62175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defPPr>
            <a:lvl1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1pPr>
            <a:lvl2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2pPr>
            <a:lvl3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3pPr>
            <a:lvl4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4pPr>
            <a:lvl5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5pPr>
            <a:lvl6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6pPr>
            <a:lvl7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7pPr>
            <a:lvl8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8pPr>
            <a:lvl9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D9EAED"/>
                </a:solidFill>
                <a:latin typeface="Menlo"/>
                <a:ea typeface="Menlo"/>
                <a:cs typeface="Menlo"/>
              </a:rPr>
              <a:t>ROTEIRO PARA VM NOVA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80795-0E06-4166-B59C-D18F7676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336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EA11C-FFA7-4FA4-A5FD-0BFFDEE9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241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apt 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6EBCC-49B8-44C7-8510-5C86465C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861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apt install git nginx python3-venv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FE2BD7-9C4B-4C4B-8F3A-073C09E0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480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node --version &amp;&amp; npm --version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75D437-4BA4-48D2-A591-85D897C2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100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compose version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854E08-07DA-44FD-A2C9-9D05C87B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Versões e método de instalação devem ser confirmados no Ubuntu da VM.</a:t>
            </a:r>
          </a:p>
        </p:txBody>
      </p:sp>
    </p:spTree>
    <p:extLst>
      <p:ext uri="{BB962C8B-B14F-4D97-AF65-F5344CB8AC3E}">
        <p14:creationId xmlns:p14="http://schemas.microsoft.com/office/powerpoint/2010/main" val="1834901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62E93-A648-4056-AC06-5AF25BB0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04  REPOSITÓRIO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A97BF-CAAE-4878-9695-71D3D19C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Código e estrutura de produção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2719C-7FF5-4344-953F-EC907B37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B5263-3404-4A89-A8A1-563F315F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EAD56-CAC9-428D-A855-A8E6E3A1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FAFFA-DAA1-4ADC-876D-1E7FEDC7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6200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74D1B-4A35-4609-BA23-9A7276EA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5EBB5-CEB5-4BA4-80D2-CE271619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7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63BF2-3FE1-4332-BD78-57F3ADA8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9BE03-EEC4-488B-AF82-CB5E9E24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05025"/>
            <a:ext cx="642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defPPr>
            <a:lvl1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1pPr>
            <a:lvl2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2pPr>
            <a:lvl3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3pPr>
            <a:lvl4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4pPr>
            <a:lvl5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5pPr>
            <a:lvl6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6pPr>
            <a:lvl7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7pPr>
            <a:lvl8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8pPr>
            <a:lvl9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D9EAED"/>
                </a:solidFill>
                <a:latin typeface="Menlo"/>
                <a:ea typeface="Menlo"/>
                <a:cs typeface="Menlo"/>
              </a:rPr>
              <a:t>APENAS EM UMA VM NOVA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7DC17-CC7C-4614-9556-4476E03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76500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B9A68-9EA7-4C38-AF8F-DF918408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/home/lasdpc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42F1D-67F4-4A6E-8210-E091E75C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clone https://github.com/LASDPC/lasdpc-site.git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7F1D8-AE32-48D2-8265-219CE319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909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lasdpc-site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E5744-3A5E-420D-B094-9FBC4524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5285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ls frontend backend .github/workflows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E06EC-B230-4057-8CF3-014AB04E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/home/lasdpc/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B75BA-D31F-498B-99BB-1DFD9B1E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9375"/>
            <a:ext cx="276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F7380"/>
                </a:solidFill>
                <a:latin typeface="Menlo"/>
                <a:ea typeface="Menlo"/>
                <a:cs typeface="Menlo"/>
              </a:rPr>
              <a:t>actions-runner/</a:t>
            </a:r>
          </a:p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F7380"/>
                </a:solidFill>
                <a:latin typeface="Menlo"/>
                <a:ea typeface="Menlo"/>
                <a:cs typeface="Menlo"/>
              </a:rPr>
              <a:t>lasdpc-site/</a:t>
            </a:r>
          </a:p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F7380"/>
                </a:solidFill>
                <a:latin typeface="Menlo"/>
                <a:ea typeface="Menlo"/>
                <a:cs typeface="Menlo"/>
              </a:rPr>
              <a:t>  frontend/dist/</a:t>
            </a:r>
          </a:p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F7380"/>
                </a:solidFill>
                <a:latin typeface="Menlo"/>
                <a:ea typeface="Menlo"/>
                <a:cs typeface="Menlo"/>
              </a:rPr>
              <a:t>  backend/venv/</a:t>
            </a:r>
          </a:p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F7380"/>
                </a:solidFill>
                <a:latin typeface="Menlo"/>
                <a:ea typeface="Menlo"/>
                <a:cs typeface="Menlo"/>
              </a:rPr>
              <a:t>  docker-compose.yml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4C37F-4DCA-4286-AFFC-14EF7AEB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4238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533B8-868D-424A-9E5F-87633E95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72075"/>
            <a:ext cx="4010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Código: GitHub  →  /home/lasdpc/lasdpc-site</a:t>
            </a:r>
          </a:p>
        </p:txBody>
      </p:sp>
    </p:spTree>
    <p:extLst>
      <p:ext uri="{BB962C8B-B14F-4D97-AF65-F5344CB8AC3E}">
        <p14:creationId xmlns:p14="http://schemas.microsoft.com/office/powerpoint/2010/main" val="327758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7641D-6288-4F60-8AE4-59CBAA20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05 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0B5D5-18CD-43D3-B747-BE5FC148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MongoDB e MinIO com Compose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D5FAF-A01C-4E0B-9F32-600BA173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9EBE7-3CE8-426A-A0D4-D1C43137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EAED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BDA14-7109-432E-8430-5AE8D634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EAE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18F5C-91D5-42F7-BDB1-3D6785A8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714375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AC7EC-0CC3-439C-A13E-DA4635F6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ABD8E-083A-436A-9D5E-43900D43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24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8A2F0-050B-4DD3-A225-3ABE445F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24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4E219-144E-4CC4-A6A2-1BD39C2A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57400"/>
            <a:ext cx="595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defPPr>
            <a:lvl1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1pPr>
            <a:lvl2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2pPr>
            <a:lvl3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3pPr>
            <a:lvl4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4pPr>
            <a:lvl5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5pPr>
            <a:lvl6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6pPr>
            <a:lvl7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7pPr>
            <a:lvl8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8pPr>
            <a:lvl9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D9EAED"/>
                </a:solidFill>
                <a:latin typeface="Menlo"/>
                <a:ea typeface="Menlo"/>
                <a:cs typeface="Menlo"/>
              </a:rPr>
              <a:t>SERVIÇOS DE INFRAESTRUTURA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3FB91-C92D-4354-84AE-7E190B06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28875"/>
            <a:ext cx="670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E9E21-181D-409E-9255-508053AB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/home/lasdpc/lasdpc-site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23FC6-2C6E-454E-83B1-70254769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813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compose config --quiet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7455F-A4AE-4CE7-B4D9-561B60CA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432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compose up -d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B0A9C-62DB-404D-A145-33796A3F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052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compose 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4BF2A-D46A-4743-A871-0D52F4DA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66D60-96B8-4E95-92F7-647A5582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5AA46-E2D9-4AA4-BE46-CCA12D5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Porta 27018 no host → 27017 no container.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A74D9-0ABC-4EF5-83CF-D0F88B9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37B8C7-FC72-436F-8AB1-8CD0CECE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81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1E644-1D4D-4233-AE98-9079837C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9000 API e 9001 console no loopback; bucket lasdpc-media.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F2968-968D-4F70-A084-90B033AE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Volumes persistem os dados. Nunca use scripts de reset para “consertar” imagens.</a:t>
            </a:r>
          </a:p>
        </p:txBody>
      </p:sp>
    </p:spTree>
    <p:extLst>
      <p:ext uri="{BB962C8B-B14F-4D97-AF65-F5344CB8AC3E}">
        <p14:creationId xmlns:p14="http://schemas.microsoft.com/office/powerpoint/2010/main" val="1224673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5F2F5-C79A-4F09-84EC-1E285E18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06 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4DAFF-201F-4D8D-A139-93ED2F4D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Backend como serviço systemd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A03DB-A31C-463A-A2A0-9B31B437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74D06-9449-4444-9735-D164B84F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BA10A-EF46-4C4D-9AF7-F81F7190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6B3E0-694E-4B11-AAAE-3A0FD507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381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B7B5F-6DE1-4003-9C22-71DA0B04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76E47-26C4-4809-9272-E194E195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7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BC76C-24EC-441F-968F-1611BD7B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A3A62-49F9-4BD1-B68A-3842E86E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050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defPPr>
            <a:lvl1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1pPr>
            <a:lvl2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2pPr>
            <a:lvl3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3pPr>
            <a:lvl4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4pPr>
            <a:lvl5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5pPr>
            <a:lvl6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6pPr>
            <a:lvl7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7pPr>
            <a:lvl8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8pPr>
            <a:lvl9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D9EAED"/>
                </a:solidFill>
                <a:latin typeface="Menlo"/>
                <a:ea typeface="Menlo"/>
                <a:cs typeface="Menlo"/>
              </a:rPr>
              <a:t>AMBIENTE 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7D9FB-06B6-49EE-8C86-CE6EAA6F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76500"/>
            <a:ext cx="6943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71439-DD40-47B3-A44B-CC4D49D8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690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/home/lasdpc/lasdpc-site/backend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B9BB6-D70F-4FBC-AD60-7AF60DF2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690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venv venv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CA7C6-14B1-4756-8CEB-F7BDA4F6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90900"/>
            <a:ext cx="690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venv/bin/activate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26C1D-034D-445B-8C0B-EB8AE488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52850"/>
            <a:ext cx="690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pip install -r requirements.txt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90D2B-08C7-4F1C-A715-F8AA2438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14800"/>
            <a:ext cx="690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systemctl status lasdpc-backend.service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71B6A-0A53-416B-A19F-C705D187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05025"/>
            <a:ext cx="2809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Uvicorn</a:t>
            </a:r>
          </a:p>
          <a:p xmlns:a="http://schemas.openxmlformats.org/drawingml/2006/main">
            <a:pPr>
              <a:defRPr sz="22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main:app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FDF4A-F40F-4726-8761-0E550A3F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1825"/>
            <a:ext cx="30003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127.0.0.1:8000</a:t>
            </a:r>
          </a:p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acessível via Nginx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8FD88-4C22-440D-BB1B-8B99BEDD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495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C0ED1-4670-4AAF-840E-13C34D6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systemd mantém o processo em execução</a:t>
            </a:r>
          </a:p>
        </p:txBody>
      </p:sp>
    </p:spTree>
    <p:extLst>
      <p:ext uri="{BB962C8B-B14F-4D97-AF65-F5344CB8AC3E}">
        <p14:creationId xmlns:p14="http://schemas.microsoft.com/office/powerpoint/2010/main" val="1782765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B15FE-4D35-4A27-93D8-EA94DBEA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07  REACT + VITE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5DAB5-EE10-4182-9D68-316A4C15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Frontend e variáveis de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8BF4D-A6F5-4904-BCCF-E67DEA8B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283DB-E954-40D3-8A5B-4ABC9628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26743-6489-4054-B7FC-CFC95927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C23E3-38FF-45EF-BA5A-0F2A6B0D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frontend/.env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E02C9-64CA-461C-90B9-A1DD54EF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609600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12855-7676-4D8D-90C2-59265774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E0791-0F37-41D2-BCC1-57B22654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E5EF7-BF9E-4021-9AB5-F66826CC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BE41F-9306-4768-B580-25F629DC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defPPr>
            <a:lvl1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1pPr>
            <a:lvl2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2pPr>
            <a:lvl3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3pPr>
            <a:lvl4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4pPr>
            <a:lvl5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5pPr>
            <a:lvl6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6pPr>
            <a:lvl7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7pPr>
            <a:lvl8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8pPr>
            <a:lvl9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D9EAED"/>
                </a:solidFill>
                <a:latin typeface="Menlo"/>
                <a:ea typeface="Menlo"/>
                <a:cs typeface="Menlo"/>
              </a:rPr>
              <a:t>VALORES PÚBLICOS — SEM SEGREDOS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D920A-F245-4B9E-AFF0-AD720E1D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76575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5C54E-C0DF-45BB-B4AF-54DB0420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6707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VITE_API_URL=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B3DD2-EA9A-47CA-9509-6D3EC23F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290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VITE_MINIO_PUBLIC_URL=/media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823C2-05B1-41A0-88DC-68F3173E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Build na VM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6E3C3-3F78-4576-9579-29099923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3905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F7380"/>
                </a:solidFill>
                <a:latin typeface="Menlo"/>
                <a:ea typeface="Menlo"/>
                <a:cs typeface="Menlo"/>
              </a:rPr>
              <a:t>cd /home/lasdpc/lasdpc-site</a:t>
            </a:r>
          </a:p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F7380"/>
                </a:solidFill>
                <a:latin typeface="Menlo"/>
                <a:ea typeface="Menlo"/>
                <a:cs typeface="Menlo"/>
              </a:rPr>
              <a:t>cd frontend</a:t>
            </a:r>
          </a:p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F7380"/>
                </a:solidFill>
                <a:latin typeface="Menlo"/>
                <a:ea typeface="Menlo"/>
                <a:cs typeface="Menlo"/>
              </a:rPr>
              <a:t>npm install</a:t>
            </a:r>
          </a:p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F7380"/>
                </a:solidFill>
                <a:latin typeface="Menlo"/>
                <a:ea typeface="Menlo"/>
                <a:cs typeface="Menlo"/>
              </a:rPr>
              <a:t>npm run 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F7380"/>
                </a:solidFill>
                <a:latin typeface="Menlo"/>
                <a:ea typeface="Menlo"/>
                <a:cs typeface="Menlo"/>
              </a:rPr>
              <a:t>Saída: frontend/dist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47928-E26C-4184-B0C1-4301383C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Variáveis VITE_* entram no bundle: alterar .env exige novo build.</a:t>
            </a:r>
          </a:p>
        </p:txBody>
      </p:sp>
    </p:spTree>
    <p:extLst>
      <p:ext uri="{BB962C8B-B14F-4D97-AF65-F5344CB8AC3E}">
        <p14:creationId xmlns:p14="http://schemas.microsoft.com/office/powerpoint/2010/main" val="7916249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19254-DA42-4132-8EB3-475E612B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08  PROXY HTTPS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261DE-F0CF-47A6-9FAD-53FB1176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Nginx: SPA, API e mídia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08952-973C-4D8E-B8E5-E01FA4BD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1A235-6753-400A-8878-E5D6761E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EAED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D63A1-0DEB-46A7-9D3C-D138CC4F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EAE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EE3E4-FBA1-408C-A07D-D769DD75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742950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DB62A-95C3-49E1-A5A5-CDB83085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98AFC-CBBC-4E53-9402-3F3A6188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AA05B-046D-40A6-8A9D-883E6D93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DE433-FE1D-40C3-B1B1-EFF262EB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defPPr>
            <a:lvl1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1pPr>
            <a:lvl2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2pPr>
            <a:lvl3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3pPr>
            <a:lvl4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4pPr>
            <a:lvl5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5pPr>
            <a:lvl6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6pPr>
            <a:lvl7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7pPr>
            <a:lvl8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8pPr>
            <a:lvl9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D9EAED"/>
                </a:solidFill>
                <a:latin typeface="Menlo"/>
                <a:ea typeface="Menlo"/>
                <a:cs typeface="Menlo"/>
              </a:rPr>
              <a:t>MAPA DE ROTAS — NÃO É UM ARQUIVO NGINX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7BDAB-BAD5-4BFC-A6D6-C9A8B2E7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47925"/>
            <a:ext cx="699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FA27B-F4B4-467B-B4F1-B64294DD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3842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/                  -&gt; frontend/dist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3F34C-2FA7-4BEA-B8AC-EEB09DBA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/api/              -&gt; 127.0.0.1:8000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DDE54-3154-43B6-937B-3358BEB9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6232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/docs              -&gt; 127.0.0.1:8000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FB181-5EE5-45E6-8E3B-5B55650D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/media/profile/    -&gt; MinIO:9000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14B8F-EC96-4D0F-A860-A4C61F17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8622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     bucket/profile/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A8285-D5F4-40AF-8A1F-77CAE4E9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80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ele faz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AB53E-E8DC-4915-856E-42108A8A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28765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Serve frontend/dist</a:t>
            </a:r>
          </a:p>
          <a:p xmlns:a="http://schemas.openxmlformats.org/drawingml/2006/main">
            <a: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→ API no loopback</a:t>
            </a:r>
          </a:p>
          <a:p xmlns:a="http://schemas.openxmlformats.org/drawingml/2006/main">
            <a: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→ perfis via MinIO</a:t>
            </a:r>
          </a:p>
          <a:p xmlns:a="http://schemas.openxmlformats.org/drawingml/2006/main">
            <a:pPr>
              <a:defRPr sz="157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→ TLS na borda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27446-0750-4715-AD89-5C288BC5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62D6E8"/>
                </a:solidFill>
                <a:latin typeface="Menlo"/>
                <a:ea typeface="Menlo"/>
                <a:cs typeface="Menlo"/>
              </a:defRPr>
            </a:defPPr>
            <a:lvl1pPr>
              <a:defRPr sz="1500" b="1">
                <a:solidFill>
                  <a:srgbClr val="62D6E8"/>
                </a:solidFill>
                <a:latin typeface="Menlo"/>
                <a:ea typeface="Menlo"/>
                <a:cs typeface="Menlo"/>
              </a:defRPr>
            </a:lvl1pPr>
            <a:lvl2pPr>
              <a:defRPr sz="1500" b="1">
                <a:solidFill>
                  <a:srgbClr val="62D6E8"/>
                </a:solidFill>
                <a:latin typeface="Menlo"/>
                <a:ea typeface="Menlo"/>
                <a:cs typeface="Menlo"/>
              </a:defRPr>
            </a:lvl2pPr>
            <a:lvl3pPr>
              <a:defRPr sz="1500" b="1">
                <a:solidFill>
                  <a:srgbClr val="62D6E8"/>
                </a:solidFill>
                <a:latin typeface="Menlo"/>
                <a:ea typeface="Menlo"/>
                <a:cs typeface="Menlo"/>
              </a:defRPr>
            </a:lvl3pPr>
            <a:lvl4pPr>
              <a:defRPr sz="1500" b="1">
                <a:solidFill>
                  <a:srgbClr val="62D6E8"/>
                </a:solidFill>
                <a:latin typeface="Menlo"/>
                <a:ea typeface="Menlo"/>
                <a:cs typeface="Menlo"/>
              </a:defRPr>
            </a:lvl4pPr>
            <a:lvl5pPr>
              <a:defRPr sz="1500" b="1">
                <a:solidFill>
                  <a:srgbClr val="62D6E8"/>
                </a:solidFill>
                <a:latin typeface="Menlo"/>
                <a:ea typeface="Menlo"/>
                <a:cs typeface="Menlo"/>
              </a:defRPr>
            </a:lvl5pPr>
            <a:lvl6pPr>
              <a:defRPr sz="1500" b="1">
                <a:solidFill>
                  <a:srgbClr val="62D6E8"/>
                </a:solidFill>
                <a:latin typeface="Menlo"/>
                <a:ea typeface="Menlo"/>
                <a:cs typeface="Menlo"/>
              </a:defRPr>
            </a:lvl6pPr>
            <a:lvl7pPr>
              <a:defRPr sz="1500" b="1">
                <a:solidFill>
                  <a:srgbClr val="62D6E8"/>
                </a:solidFill>
                <a:latin typeface="Menlo"/>
                <a:ea typeface="Menlo"/>
                <a:cs typeface="Menlo"/>
              </a:defRPr>
            </a:lvl7pPr>
            <a:lvl8pPr>
              <a:defRPr sz="1500" b="1">
                <a:solidFill>
                  <a:srgbClr val="62D6E8"/>
                </a:solidFill>
                <a:latin typeface="Menlo"/>
                <a:ea typeface="Menlo"/>
                <a:cs typeface="Menlo"/>
              </a:defRPr>
            </a:lvl8pPr>
            <a:lvl9pPr>
              <a:defRPr sz="1500" b="1">
                <a:solidFill>
                  <a:srgbClr val="62D6E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2D6E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62D6E8"/>
                </a:solidFill>
                <a:latin typeface="Menlo"/>
                <a:ea typeface="Menlo"/>
                <a:cs typeface="Menlo"/>
              </a:rPr>
              <a:t>Teste antes de aplicar: sudo nginx -t  &amp;&amp;  sudo systemctl reload nginx</a:t>
            </a:r>
          </a:p>
        </p:txBody>
      </p:sp>
    </p:spTree>
    <p:extLst>
      <p:ext uri="{BB962C8B-B14F-4D97-AF65-F5344CB8AC3E}">
        <p14:creationId xmlns:p14="http://schemas.microsoft.com/office/powerpoint/2010/main" val="10764288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65211-04AF-484D-89F5-E1D70E67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09  CERTIFICADOS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2F03B-CE14-4D02-AE75-F996E14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Certbot e renovação do HTTPS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C0FDE-A58B-466A-95E0-16298B8E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B5250-572E-49C2-BE52-9B9195D2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07883-20ED-4551-8AA9-CABD99D7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1F532-8601-4A8E-8951-5F31746599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86e1ca1404e3e"/>
          <a:stretch xmlns:a="http://schemas.openxmlformats.org/drawingml/2006/main"/>
        </p:blipFill>
        <p:spPr>
          <a:xfrm xmlns:a="http://schemas.openxmlformats.org/drawingml/2006/main">
            <a:off x="7620000" y="1809750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BF0F4-FAAF-4BAE-9650-F1893A4A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64770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535B2-647D-4A1D-8B42-C6FCDA76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741AB-9C91-4EF0-9B00-0DC32AEA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C8038-9468-4E60-956C-0813232F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FA2BC-5ACA-44FF-AFBE-FA6BDBA4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defPPr>
            <a:lvl1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1pPr>
            <a:lvl2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2pPr>
            <a:lvl3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3pPr>
            <a:lvl4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4pPr>
            <a:lvl5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5pPr>
            <a:lvl6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6pPr>
            <a:lvl7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7pPr>
            <a:lvl8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8pPr>
            <a:lvl9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D9EAED"/>
                </a:solidFill>
                <a:latin typeface="Menlo"/>
                <a:ea typeface="Menlo"/>
                <a:cs typeface="Menlo"/>
              </a:rPr>
              <a:t>ROTEIRO DE EMISSÃO / VERIFICAÇÃO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7A4CD-FA00-4E1C-BBE8-76A10A08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86025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57BD9-161A-4DDE-A875-589B5909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765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certbot --nginx -d lasdpc.icmc.usp.br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AFA7C-AE73-448D-A6EF-0D24DD58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3847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certbot certificates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360A4-39D3-4210-B908-CE41434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04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certbot renew --dry-run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A35B8-AEF6-45B2-B115-A719232D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systemctl list-timers | grep certbot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F88AF-8FE6-4376-BCC9-6F982A50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Nginx entrega o certificado; Certbot emite e renova.</a:t>
            </a:r>
          </a:p>
        </p:txBody>
      </p:sp>
    </p:spTree>
    <p:extLst>
      <p:ext uri="{BB962C8B-B14F-4D97-AF65-F5344CB8AC3E}">
        <p14:creationId xmlns:p14="http://schemas.microsoft.com/office/powerpoint/2010/main" val="8945299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622B1-B5A7-4474-B1DC-94702049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10  GITHUB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18550-E907-4D45-BF68-24E3650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Runner self-hosted na 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F6740-3757-40BE-8CE7-C18F3F43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E59AC-4E9C-4DD3-BFDB-1F5F4419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C4D8F-7C2E-48FA-873E-51C7298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27033-1C22-4DBA-88EA-6E985A9B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GitHub  →  Settings  →  Actions  →  Runners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8A051-3FF3-4EB2-92A4-4CEA4C48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1  Criar runner para Linux no repositório</a:t>
            </a:r>
          </a:p>
          <a:p xmlns:a="http://schemas.openxmlformats.org/drawingml/2006/main">
            <a: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2  Executar os comandos gerados pelo GitHub</a:t>
            </a:r>
          </a:p>
          <a:p xmlns:a="http://schemas.openxmlformats.org/drawingml/2006/main">
            <a: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3  Registrar com token temporário</a:t>
            </a:r>
          </a:p>
          <a:p xmlns:a="http://schemas.openxmlformats.org/drawingml/2006/main">
            <a:pPr>
              <a:defRPr sz="16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4  Instalar e iniciar o serviço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B88AA-CEA1-4BF9-9EF5-65897620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4810125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EFED0-9403-4750-9531-0E45EAEA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17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AAF01-E748-43E1-B2C3-F51F82B1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4D27D-10AD-4BCE-9ECF-B5E0F701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7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2F585-EAE9-4E42-85C2-173C69E0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050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defPPr>
            <a:lvl1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1pPr>
            <a:lvl2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2pPr>
            <a:lvl3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3pPr>
            <a:lvl4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4pPr>
            <a:lvl5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5pPr>
            <a:lvl6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6pPr>
            <a:lvl7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7pPr>
            <a:lvl8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8pPr>
            <a:lvl9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D9EAED"/>
                </a:solidFill>
                <a:latin typeface="Menlo"/>
                <a:ea typeface="Menlo"/>
                <a:cs typeface="Menlo"/>
              </a:rPr>
              <a:t>EXEMPLO — USE COMANDOS DO GITHUB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98256-9B5E-4DDF-9830-E55A7946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4371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93022-DEAF-475F-BAC1-6399DF1F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/home/lasdpc/actions-runner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B9A82-13DC-4142-8C33-EF5D7B0E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2D6E8"/>
                </a:solidFill>
                <a:latin typeface="Menlo"/>
                <a:ea typeface="Menlo"/>
                <a:cs typeface="Menlo"/>
              </a:rPr>
              <a:t># execute a linha gerada pelo 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E7C71-D9F0-416A-AC2B-BAC6CE69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D6E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2D6E8"/>
                </a:solidFill>
                <a:latin typeface="Menlo"/>
                <a:ea typeface="Menlo"/>
                <a:cs typeface="Menlo"/>
              </a:rPr>
              <a:t># cole o comando de registro da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1C4B3-B494-43C4-A1A2-52F60560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5285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./svc.sh 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704D8-D255-4BDC-9A6A-95734221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./svc.sh 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8B604-5B0B-4AF0-A22C-D5234D09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A VM observada já tinha o serviço actions.runner.LASDPC-lasdpc-site.lasdpc-web.service.</a:t>
            </a:r>
          </a:p>
        </p:txBody>
      </p:sp>
    </p:spTree>
    <p:extLst>
      <p:ext uri="{BB962C8B-B14F-4D97-AF65-F5344CB8AC3E}">
        <p14:creationId xmlns:p14="http://schemas.microsoft.com/office/powerpoint/2010/main" val="21347438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4749D-A19D-406B-A294-D3CFA1C5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11 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C55E1-B1A4-45AB-8852-565D8AA4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deploy automático existente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58DE9-6677-4AFB-8F59-FD757A81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EE0B1-7CC7-45D8-822F-425F385D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EAED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1D523-5569-40BB-B542-0C61784D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EAE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0B6B0-2C13-4186-AB4A-3D99FF3D65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f63ed1f294e21"/>
          <a:stretch xmlns:a="http://schemas.openxmlformats.org/drawingml/2006/main"/>
        </p:blipFill>
        <p:spPr>
          <a:xfrm xmlns:a="http://schemas.openxmlformats.org/drawingml/2006/main">
            <a:off x="7905750" y="1714500"/>
            <a:ext cx="3381375" cy="3381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5D6D8-D473-4CBD-A715-9F0093B0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85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em main  →  runner da VM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266E0-FB2F-45E1-B07D-39A8D903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67627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01  checkout do commit</a:t>
            </a:r>
          </a:p>
          <a:p xmlns:a="http://schemas.openxmlformats.org/drawingml/2006/main">
            <a: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02  rsync para /home/lasdpc/lasdpc-site</a:t>
            </a:r>
          </a:p>
          <a:p xmlns:a="http://schemas.openxmlformats.org/drawingml/2006/main">
            <a: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03  docker compose up -d</a:t>
            </a:r>
          </a:p>
          <a:p xmlns:a="http://schemas.openxmlformats.org/drawingml/2006/main">
            <a: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04  npm install + npm run build</a:t>
            </a:r>
          </a:p>
          <a:p xmlns:a="http://schemas.openxmlformats.org/drawingml/2006/main">
            <a:pPr>
              <a:defRPr sz="1650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05  pip install + restart do 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DAF66-9FA6-4F1E-A5D5-299A4F79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638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38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3B085-3870-4192-B85D-D0EE9FB2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615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EAED"/>
                </a:solidFill>
                <a:latin typeface="Arial"/>
                <a:ea typeface="Arial"/>
                <a:cs typeface="Arial"/>
              </a:rPr>
              <a:t>Exclui .env, backend/venv e frontend/node_modules</a:t>
            </a:r>
          </a:p>
        </p:txBody>
      </p:sp>
    </p:spTree>
    <p:extLst>
      <p:ext uri="{BB962C8B-B14F-4D97-AF65-F5344CB8AC3E}">
        <p14:creationId xmlns:p14="http://schemas.microsoft.com/office/powerpoint/2010/main" val="4144715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C7F0D-34A9-450F-8882-C331851A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12  MINIO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45C2B-C7B4-469E-B584-2C6EED24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Imagens: chave interna, URL pública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0D191-362C-4472-8BB0-E329D0F4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11579-7C36-4D9C-A625-5474CEA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811B9-7618-4BE7-8298-12211ED3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ECE74-1C30-4A74-9498-721A04B8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O upload devolve uma chave de objeto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C7693-5A35-44A4-9F58-AC635F5F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22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22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22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22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22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22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22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22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22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05B7B5"/>
                </a:solidFill>
                <a:latin typeface="Menlo"/>
                <a:ea typeface="Menlo"/>
                <a:cs typeface="Menlo"/>
              </a:rPr>
              <a:t>profile/exemplo.png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435A7-D665-4F38-9932-9DD0022C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O navegador carrega pelo domínio 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CF000-993A-49B6-8A06-4FA690B4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576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18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18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18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18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18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18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18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18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18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05B7B5"/>
                </a:solidFill>
                <a:latin typeface="Menlo"/>
                <a:ea typeface="Menlo"/>
                <a:cs typeface="Menlo"/>
              </a:rPr>
              <a:t>https://lasdpc.icmc.usp.br/media/profile/exemplo.png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41C85-6F5E-4F0D-956A-EF9EE8BF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MinIO interno: 127.0.0.1:9000  •  bucket: lasdpc-media</a:t>
            </a:r>
          </a:p>
        </p:txBody>
      </p:sp>
    </p:spTree>
    <p:extLst>
      <p:ext uri="{BB962C8B-B14F-4D97-AF65-F5344CB8AC3E}">
        <p14:creationId xmlns:p14="http://schemas.microsoft.com/office/powerpoint/2010/main" val="16599943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E8CA7-E832-4720-B108-5930CF37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13  ACEITE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F4595-6670-45BB-A212-81EBB46F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Verificações depois do deploy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6A0E9-08B8-4C74-A42B-0818F4DD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7195F-68AF-4C47-8305-F4803B4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87D78-5B0D-462F-813C-BCA80161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34694-5B55-4821-AEAC-18D5ADE4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7429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0F329-DEDE-41F3-8E23-AE81A14F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2EF95-EE4C-4B27-941C-4C12782C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6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A5F6D-2192-4C8B-B732-2FA1A07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6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700CD-ECA7-4E84-AD4C-D72082CF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defPPr>
            <a:lvl1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1pPr>
            <a:lvl2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2pPr>
            <a:lvl3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3pPr>
            <a:lvl4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4pPr>
            <a:lvl5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5pPr>
            <a:lvl6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6pPr>
            <a:lvl7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7pPr>
            <a:lvl8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8pPr>
            <a:lvl9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D9EAED"/>
                </a:solidFill>
                <a:latin typeface="Menlo"/>
                <a:ea typeface="Menlo"/>
                <a:cs typeface="Menlo"/>
              </a:rPr>
              <a:t>LEITURAS — NÃO ALTERAM DADOS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08BEC-19CC-4EB5-A1B8-C534B208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66975"/>
            <a:ext cx="699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12DB9-AEAE-4DC9-B1F1-07536BCF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5747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nginx -t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81CA4-897B-4553-9441-0C602FE8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compose 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0D59C-26C7-4CE6-A87B-3B30C188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systemctl status lasdpc-backend.service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EA34C-573E-433F-8AA7-B969B3E4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4332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SITE=https://lasdpc.icmc.usp.br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4F986-85CB-47B4-9D94-8101DA62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0527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FILE=exemplo-existente.png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EEEF0-E899-4F42-BB06-D975F9BD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6722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curl -I "$SITE/media/profile/$FILE"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DCDDF-F2C2-492A-9CD2-E38F358A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24075"/>
            <a:ext cx="266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Esperado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DB051-1845-4590-8E7F-96925D92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62250"/>
            <a:ext cx="271462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Nginx válido</a:t>
            </a:r>
          </a:p>
          <a:p xmlns:a="http://schemas.openxmlformats.org/drawingml/2006/main">
            <a: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Containers ativos</a:t>
            </a:r>
          </a:p>
          <a:p xmlns:a="http://schemas.openxmlformats.org/drawingml/2006/main">
            <a: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Backend ativo</a:t>
            </a:r>
          </a:p>
          <a:p xmlns:a="http://schemas.openxmlformats.org/drawingml/2006/main">
            <a: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HTTPS 200</a:t>
            </a:r>
          </a:p>
          <a:p xmlns:a="http://schemas.openxmlformats.org/drawingml/2006/main">
            <a: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Imagem 200</a:t>
            </a:r>
          </a:p>
          <a:p xmlns:a="http://schemas.openxmlformats.org/drawingml/2006/main">
            <a:pPr>
              <a:defRPr sz="1575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Actions: job verde</a:t>
            </a:r>
          </a:p>
        </p:txBody>
      </p:sp>
    </p:spTree>
    <p:extLst>
      <p:ext uri="{BB962C8B-B14F-4D97-AF65-F5344CB8AC3E}">
        <p14:creationId xmlns:p14="http://schemas.microsoft.com/office/powerpoint/2010/main" val="7350585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E9398B-C5D4-441E-B14C-E4CF27A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14  ROTINA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B2198-6968-4557-B6B5-BE8315C0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Manutenção sem perder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E6F24-2440-482F-AF5D-56F77B5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60310-C16F-48C8-A2D1-E8E163FF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EAED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B13FE-07A3-4884-B0FA-1B99BAC0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EAE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1B1C9-C697-4C13-BFE2-7B5BCAC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2C513-B7BA-4887-BB2F-30D79698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Diariamente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C75E6-1C51-45EC-BE2E-1DAB0E8F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Actions, Nginx, backend, espaço e logs relevantes.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3870F-0157-4502-B501-262067F2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CF78D-8866-4A0B-86CA-A1C6B6EC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8137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Periodicamente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3B390-B1E1-412C-9FAC-CE322A09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Renovação Certbot, backups testados e atualização planejada.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11249-DA24-4CCF-8C80-543FB448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2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2D6E8"/>
                </a:solidFill>
                <a:latin typeface="Arial"/>
                <a:ea typeface="Arial"/>
                <a:cs typeface="Arial"/>
              </a:rPr>
              <a:t>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2ACCC-79F3-43D7-A3DF-83F1A7D9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 incidente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0D316-BC58-4ACB-B36F-5A791B88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9EA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EAED"/>
                </a:solidFill>
                <a:latin typeface="Arial"/>
                <a:ea typeface="Arial"/>
                <a:cs typeface="Arial"/>
              </a:rPr>
              <a:t>Isolar camada: DNS/TLS → proxy → API → Mongo/MinIO.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29DD3-9452-4755-9E26-681D7E29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53340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FCA54-2E3E-4B7C-90B7-0B9DC316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8490C-20E0-4284-84FD-56B99BF7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89965-389C-4EB6-968A-10E9911A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CDFA5-BAAA-4B38-92BC-582FAFBA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81225"/>
            <a:ext cx="414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defPPr>
            <a:lvl1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1pPr>
            <a:lvl2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2pPr>
            <a:lvl3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3pPr>
            <a:lvl4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4pPr>
            <a:lvl5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5pPr>
            <a:lvl6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6pPr>
            <a:lvl7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7pPr>
            <a:lvl8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8pPr>
            <a:lvl9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9EAED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D9EAED"/>
                </a:solidFill>
                <a:latin typeface="Menlo"/>
                <a:ea typeface="Menlo"/>
                <a:cs typeface="Menlo"/>
              </a:rPr>
              <a:t>DIAGNÓSTICO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11899-29A3-4876-9F57-302AF632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5270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B73CC4-C0EB-4E09-8EB1-BD084BCC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432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journalctl -u nginx -n 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C4C9C-F68F-40A6-A415-243AB774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051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journalctl -u lasdpc-backend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A0DEE-E444-4A3F-98E1-D872FAD7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671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logs --tail 100 lasdpc-minio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A15829-CFF6-45E6-80C5-3689C3EF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certbot renew --dry-run</a:t>
            </a:r>
          </a:p>
        </p:txBody>
      </p:sp>
    </p:spTree>
    <p:extLst>
      <p:ext uri="{BB962C8B-B14F-4D97-AF65-F5344CB8AC3E}">
        <p14:creationId xmlns:p14="http://schemas.microsoft.com/office/powerpoint/2010/main" val="5939445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A81EA-E50D-48A0-ABAE-F82BED1D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15 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5CB76-69FD-436F-978B-7B396B65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Checklist para uma VM reproduzível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03A98-FC48-4A7F-9E26-593522C7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F68C5-FF80-40BF-B22F-BDE17697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LASDPC  /  GUIA DE OPERAÇÃO DA 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0AE6A-46CA-48A1-B6CF-B3F676FA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F287C-1AC3-4DD3-AB5D-003FCC36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EA6D9-CA4E-4D5D-A09D-0D4F553B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145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8"/>
                </a:solidFill>
                <a:latin typeface="Arial"/>
                <a:ea typeface="Arial"/>
                <a:cs typeface="Arial"/>
              </a:rPr>
              <a:t>SSH e sudo funcionam na porta 2291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D50C8-8AA8-4C82-88A4-9208061B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D0616-EBD3-4F2F-964F-31919ACB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8127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8"/>
                </a:solidFill>
                <a:latin typeface="Arial"/>
                <a:ea typeface="Arial"/>
                <a:cs typeface="Arial"/>
              </a:rPr>
              <a:t>DNS aponta para a VM; Nginx responde em 80/443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A6AFF-8786-4E19-9F9D-91CC0B1A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E7ABC-5CF4-4012-9158-2110BA92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480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8"/>
                </a:solidFill>
                <a:latin typeface="Arial"/>
                <a:ea typeface="Arial"/>
                <a:cs typeface="Arial"/>
              </a:rPr>
              <a:t>MongoDB e MinIO sobem com volumes persistentes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A9C25-C532-408B-84E8-B3EC9774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72D83-AB0C-4F1C-9607-8A09E083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1477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8"/>
                </a:solidFill>
                <a:latin typeface="Arial"/>
                <a:ea typeface="Arial"/>
                <a:cs typeface="Arial"/>
              </a:rPr>
              <a:t>Backend responde em 127.0.0.1:8000 via systemd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224A9-4D4F-4ED9-AB14-F8CC29CF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8619C-323D-4EC5-91C1-24E656B1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815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8"/>
                </a:solidFill>
                <a:latin typeface="Arial"/>
                <a:ea typeface="Arial"/>
                <a:cs typeface="Arial"/>
              </a:rPr>
              <a:t>Frontend compila com URLs HTTPS públicas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FCE37-80DA-48C8-8DC0-A495CA60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D6AA2-E11B-4402-BA4D-EA524BC9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4827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B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B38"/>
                </a:solidFill>
                <a:latin typeface="Arial"/>
                <a:ea typeface="Arial"/>
                <a:cs typeface="Arial"/>
              </a:rPr>
              <a:t>Certbot renova; runner executa push na main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01A7D-9314-4018-B9B7-6B32B49D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73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7380"/>
                </a:solidFill>
                <a:latin typeface="Arial"/>
                <a:ea typeface="Arial"/>
                <a:cs typeface="Arial"/>
              </a:rPr>
              <a:t>Antes de declarar pronto: confira os arquivos reais da VM e o SHA do último deploy.</a:t>
            </a:r>
          </a:p>
        </p:txBody>
      </p:sp>
    </p:spTree>
    <p:extLst>
      <p:ext uri="{BB962C8B-B14F-4D97-AF65-F5344CB8AC3E}">
        <p14:creationId xmlns:p14="http://schemas.microsoft.com/office/powerpoint/2010/main" val="215875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2026-10-26T14:28:01.5090000Z</dcterms:created>
  <dcterms:modified xsi:type="dcterms:W3CDTF">2026-10-26T14:28:01.5090000Z</dcterms:modified>
</coreProperties>
</file>